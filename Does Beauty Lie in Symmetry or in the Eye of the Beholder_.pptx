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 id="214748368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8229600" cx="14630400"/>
  <p:notesSz cx="8229600" cy="14630400"/>
  <p:embeddedFontLst>
    <p:embeddedFont>
      <p:font typeface="IBM Plex Sans"/>
      <p:regular r:id="rId19"/>
      <p:bold r:id="rId20"/>
      <p:italic r:id="rId21"/>
      <p:boldItalic r:id="rId22"/>
    </p:embeddedFont>
    <p:embeddedFont>
      <p:font typeface="Roboto"/>
      <p:regular r:id="rId23"/>
      <p:bold r:id="rId24"/>
      <p:italic r:id="rId25"/>
      <p:boldItalic r:id="rId26"/>
    </p:embeddedFont>
    <p:embeddedFont>
      <p:font typeface="IBM Plex Sans Medium"/>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BMPlexSans-bold.fntdata"/><Relationship Id="rId22" Type="http://schemas.openxmlformats.org/officeDocument/2006/relationships/font" Target="fonts/IBMPlexSans-boldItalic.fntdata"/><Relationship Id="rId21" Type="http://schemas.openxmlformats.org/officeDocument/2006/relationships/font" Target="fonts/IBMPlexSans-italic.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IBMPlexSansMedium-bold.fntdata"/><Relationship Id="rId27" Type="http://schemas.openxmlformats.org/officeDocument/2006/relationships/font" Target="fonts/IBMPlexSans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SansMedium-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IBMPlexSans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BMPlexSa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eca7a99de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deca7a99de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deca7a99de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dee643944c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dee643944c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g3dee643944c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dee643944c_2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dee643944c_2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g3dee643944c_2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8"/>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0"/>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1"/>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52" name="Shape 52"/>
        <p:cNvGrpSpPr/>
        <p:nvPr/>
      </p:nvGrpSpPr>
      <p:grpSpPr>
        <a:xfrm>
          <a:off x="0" y="0"/>
          <a:ext cx="0" cy="0"/>
          <a:chOff x="0" y="0"/>
          <a:chExt cx="0" cy="0"/>
        </a:xfrm>
      </p:grpSpPr>
      <p:sp>
        <p:nvSpPr>
          <p:cNvPr id="53" name="Google Shape;53;p14"/>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4"/>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 name="Google Shape;55;p14">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56" name="Shape 56"/>
        <p:cNvGrpSpPr/>
        <p:nvPr/>
      </p:nvGrpSpPr>
      <p:grpSpPr>
        <a:xfrm>
          <a:off x="0" y="0"/>
          <a:ext cx="0" cy="0"/>
          <a:chOff x="0" y="0"/>
          <a:chExt cx="0" cy="0"/>
        </a:xfrm>
      </p:grpSpPr>
      <p:sp>
        <p:nvSpPr>
          <p:cNvPr id="57" name="Google Shape;57;p15"/>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15">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60" name="Shape 60"/>
        <p:cNvGrpSpPr/>
        <p:nvPr/>
      </p:nvGrpSpPr>
      <p:grpSpPr>
        <a:xfrm>
          <a:off x="0" y="0"/>
          <a:ext cx="0" cy="0"/>
          <a:chOff x="0" y="0"/>
          <a:chExt cx="0" cy="0"/>
        </a:xfrm>
      </p:grpSpPr>
      <p:sp>
        <p:nvSpPr>
          <p:cNvPr id="61" name="Google Shape;61;p16"/>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6"/>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 name="Google Shape;63;p16">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64" name="Shape 64"/>
        <p:cNvGrpSpPr/>
        <p:nvPr/>
      </p:nvGrpSpPr>
      <p:grpSpPr>
        <a:xfrm>
          <a:off x="0" y="0"/>
          <a:ext cx="0" cy="0"/>
          <a:chOff x="0" y="0"/>
          <a:chExt cx="0" cy="0"/>
        </a:xfrm>
      </p:grpSpPr>
      <p:sp>
        <p:nvSpPr>
          <p:cNvPr id="65" name="Google Shape;65;p17"/>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7"/>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 name="Google Shape;67;p17">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68" name="Shape 68"/>
        <p:cNvGrpSpPr/>
        <p:nvPr/>
      </p:nvGrpSpPr>
      <p:grpSpPr>
        <a:xfrm>
          <a:off x="0" y="0"/>
          <a:ext cx="0" cy="0"/>
          <a:chOff x="0" y="0"/>
          <a:chExt cx="0" cy="0"/>
        </a:xfrm>
      </p:grpSpPr>
      <p:sp>
        <p:nvSpPr>
          <p:cNvPr id="69" name="Google Shape;69;p18"/>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8"/>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 name="Google Shape;71;p18">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72" name="Shape 72"/>
        <p:cNvGrpSpPr/>
        <p:nvPr/>
      </p:nvGrpSpPr>
      <p:grpSpPr>
        <a:xfrm>
          <a:off x="0" y="0"/>
          <a:ext cx="0" cy="0"/>
          <a:chOff x="0" y="0"/>
          <a:chExt cx="0" cy="0"/>
        </a:xfrm>
      </p:grpSpPr>
      <p:sp>
        <p:nvSpPr>
          <p:cNvPr id="73" name="Google Shape;73;p19"/>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9"/>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19">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76" name="Shape 76"/>
        <p:cNvGrpSpPr/>
        <p:nvPr/>
      </p:nvGrpSpPr>
      <p:grpSpPr>
        <a:xfrm>
          <a:off x="0" y="0"/>
          <a:ext cx="0" cy="0"/>
          <a:chOff x="0" y="0"/>
          <a:chExt cx="0" cy="0"/>
        </a:xfrm>
      </p:grpSpPr>
      <p:sp>
        <p:nvSpPr>
          <p:cNvPr id="77" name="Google Shape;77;p20"/>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0"/>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 name="Google Shape;79;p20">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80" name="Shape 80"/>
        <p:cNvGrpSpPr/>
        <p:nvPr/>
      </p:nvGrpSpPr>
      <p:grpSpPr>
        <a:xfrm>
          <a:off x="0" y="0"/>
          <a:ext cx="0" cy="0"/>
          <a:chOff x="0" y="0"/>
          <a:chExt cx="0" cy="0"/>
        </a:xfrm>
      </p:grpSpPr>
      <p:sp>
        <p:nvSpPr>
          <p:cNvPr id="81" name="Google Shape;81;p21"/>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 name="Google Shape;83;p21">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84" name="Shape 84"/>
        <p:cNvGrpSpPr/>
        <p:nvPr/>
      </p:nvGrpSpPr>
      <p:grpSpPr>
        <a:xfrm>
          <a:off x="0" y="0"/>
          <a:ext cx="0" cy="0"/>
          <a:chOff x="0" y="0"/>
          <a:chExt cx="0" cy="0"/>
        </a:xfrm>
      </p:grpSpPr>
      <p:sp>
        <p:nvSpPr>
          <p:cNvPr id="85" name="Google Shape;85;p22"/>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2"/>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 name="Google Shape;87;p22">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88" name="Shape 88"/>
        <p:cNvGrpSpPr/>
        <p:nvPr/>
      </p:nvGrpSpPr>
      <p:grpSpPr>
        <a:xfrm>
          <a:off x="0" y="0"/>
          <a:ext cx="0" cy="0"/>
          <a:chOff x="0" y="0"/>
          <a:chExt cx="0" cy="0"/>
        </a:xfrm>
      </p:grpSpPr>
      <p:sp>
        <p:nvSpPr>
          <p:cNvPr id="89" name="Google Shape;89;p23"/>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3"/>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 name="Google Shape;91;p23">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2" name="Shape 92"/>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g3dee643944c_187_0)">
    <p:spTree>
      <p:nvGrpSpPr>
        <p:cNvPr id="93" name="Shape 93"/>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1">
  <p:cSld name="Slide 9 master (g3dee643944c_151_0)">
    <p:spTree>
      <p:nvGrpSpPr>
        <p:cNvPr id="94" name="Shape 94"/>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1">
  <p:cSld name="Slide 8 master (g3dee643944c_144_0)">
    <p:spTree>
      <p:nvGrpSpPr>
        <p:cNvPr id="95" name="Shape 9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1">
  <p:cSld name="Slide 7 master (g3dee643944c_137_0)">
    <p:spTree>
      <p:nvGrpSpPr>
        <p:cNvPr id="96" name="Shape 96"/>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1">
  <p:cSld name="Slide 5 master (g3dee643944c_123_0)">
    <p:spTree>
      <p:nvGrpSpPr>
        <p:cNvPr id="97" name="Shape 97"/>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1">
  <p:cSld name="Slide 4 master (g3dee643944c_116_0)">
    <p:spTree>
      <p:nvGrpSpPr>
        <p:cNvPr id="98" name="Shape 98"/>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1">
  <p:cSld name="Slide 3 master (g3dee643944c_109_0)">
    <p:spTree>
      <p:nvGrpSpPr>
        <p:cNvPr id="99" name="Shape 99"/>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1">
  <p:cSld name="Slide 10 master (g3dee643944c_102_0)">
    <p:spTree>
      <p:nvGrpSpPr>
        <p:cNvPr id="100" name="Shape 100"/>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1">
  <p:cSld name="Slide 6 master (g3dee643944c_130_0)">
    <p:spTree>
      <p:nvGrpSpPr>
        <p:cNvPr id="101" name="Shape 101"/>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2">
  <p:cSld name="Slide 10 master (g3dee643944c_158_0)">
    <p:spTree>
      <p:nvGrpSpPr>
        <p:cNvPr id="102" name="Shape 10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theme" Target="../theme/theme2.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24.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14.png"/><Relationship Id="rId5" Type="http://schemas.openxmlformats.org/officeDocument/2006/relationships/hyperlink" Target="https://github.com/Guna-Venkat/Multi-Modal-Gated-Networks-for-Aesthetic-Face-Scoring" TargetMode="External"/><Relationship Id="rId6" Type="http://schemas.openxmlformats.org/officeDocument/2006/relationships/hyperlink" Target="https://arxiv.org/abs/1801.06345"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5"/>
          <p:cNvSpPr/>
          <p:nvPr/>
        </p:nvSpPr>
        <p:spPr>
          <a:xfrm>
            <a:off x="9144000" y="0"/>
            <a:ext cx="5486400" cy="8229600"/>
          </a:xfrm>
          <a:prstGeom prst="rect">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 high-end, professional studio portrait of a person with a focus on facial symmetry and skin texture. One half of the face has subtle geometric golden ratio lines overlaid, while the other half highlights natural skin texture and lighting. Cinematic lighting, dark charcoal background, ultra-realistic." id="109" name="Google Shape;109;p35"/>
          <p:cNvPicPr preferRelativeResize="0"/>
          <p:nvPr/>
        </p:nvPicPr>
        <p:blipFill rotWithShape="1">
          <a:blip r:embed="rId3">
            <a:alphaModFix/>
          </a:blip>
          <a:srcRect b="0" l="5556" r="5556" t="0"/>
          <a:stretch/>
        </p:blipFill>
        <p:spPr>
          <a:xfrm>
            <a:off x="9258300" y="171450"/>
            <a:ext cx="5257800" cy="7886700"/>
          </a:xfrm>
          <a:prstGeom prst="roundRect">
            <a:avLst>
              <a:gd fmla="val 0" name="adj"/>
            </a:avLst>
          </a:prstGeom>
          <a:noFill/>
          <a:ln>
            <a:noFill/>
          </a:ln>
        </p:spPr>
      </p:pic>
      <p:sp>
        <p:nvSpPr>
          <p:cNvPr id="110" name="Google Shape;110;p35"/>
          <p:cNvSpPr/>
          <p:nvPr/>
        </p:nvSpPr>
        <p:spPr>
          <a:xfrm>
            <a:off x="793790" y="2351723"/>
            <a:ext cx="7556400" cy="21264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b="0" i="0" lang="en-US" sz="4450" u="none" cap="none" strike="noStrike">
                <a:solidFill>
                  <a:srgbClr val="F3F3F2"/>
                </a:solidFill>
                <a:latin typeface="IBM Plex Sans"/>
                <a:ea typeface="IBM Plex Sans"/>
                <a:cs typeface="IBM Plex Sans"/>
                <a:sym typeface="IBM Plex Sans"/>
              </a:rPr>
              <a:t>Does Beauty Lie in Symmetry or in the Eye of the Beholder?</a:t>
            </a:r>
            <a:endParaRPr b="0" i="0" sz="4450" u="none" cap="none" strike="noStrike"/>
          </a:p>
        </p:txBody>
      </p:sp>
      <p:sp>
        <p:nvSpPr>
          <p:cNvPr id="111" name="Google Shape;111;p35"/>
          <p:cNvSpPr/>
          <p:nvPr/>
        </p:nvSpPr>
        <p:spPr>
          <a:xfrm>
            <a:off x="793790" y="4818221"/>
            <a:ext cx="75564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1" lang="en-US" sz="1750" u="none" cap="none" strike="noStrike">
                <a:solidFill>
                  <a:srgbClr val="D4D4D1"/>
                </a:solidFill>
                <a:latin typeface="Roboto"/>
                <a:ea typeface="Roboto"/>
                <a:cs typeface="Roboto"/>
                <a:sym typeface="Roboto"/>
              </a:rPr>
              <a:t>Disentangling Geometry and Texture using Adaptive Gated Networks</a:t>
            </a:r>
            <a:endParaRPr b="0" i="0" sz="1750" u="none" cap="none" strike="noStrike"/>
          </a:p>
        </p:txBody>
      </p:sp>
      <p:sp>
        <p:nvSpPr>
          <p:cNvPr id="112" name="Google Shape;112;p35"/>
          <p:cNvSpPr/>
          <p:nvPr/>
        </p:nvSpPr>
        <p:spPr>
          <a:xfrm>
            <a:off x="714406" y="5425025"/>
            <a:ext cx="3843300" cy="769500"/>
          </a:xfrm>
          <a:prstGeom prst="roundRect">
            <a:avLst>
              <a:gd fmla="val 6165" name="adj"/>
            </a:avLst>
          </a:prstGeom>
          <a:noFill/>
          <a:ln cap="flat" cmpd="sng" w="9525">
            <a:solidFill>
              <a:srgbClr val="FFBC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5"/>
          <p:cNvSpPr/>
          <p:nvPr/>
        </p:nvSpPr>
        <p:spPr>
          <a:xfrm>
            <a:off x="974451" y="5521321"/>
            <a:ext cx="2703900" cy="597600"/>
          </a:xfrm>
          <a:prstGeom prst="rect">
            <a:avLst/>
          </a:prstGeom>
          <a:noFill/>
          <a:ln>
            <a:noFill/>
          </a:ln>
        </p:spPr>
        <p:txBody>
          <a:bodyPr anchorCtr="0" anchor="t" bIns="0" lIns="0" spcFirstLastPara="1" rIns="0" wrap="square" tIns="0">
            <a:noAutofit/>
          </a:bodyPr>
          <a:lstStyle/>
          <a:p>
            <a:pPr indent="0" lvl="0" marL="0" rtl="0" algn="l">
              <a:lnSpc>
                <a:spcPct val="160714"/>
              </a:lnSpc>
              <a:spcBef>
                <a:spcPts val="0"/>
              </a:spcBef>
              <a:spcAft>
                <a:spcPts val="0"/>
              </a:spcAft>
              <a:buClr>
                <a:srgbClr val="FFBC8F"/>
              </a:buClr>
              <a:buSzPts val="1400"/>
              <a:buFont typeface="Roboto"/>
              <a:buNone/>
            </a:pPr>
            <a:r>
              <a:rPr lang="en-US" sz="1600">
                <a:solidFill>
                  <a:srgbClr val="FFBC8F"/>
                </a:solidFill>
                <a:latin typeface="Roboto"/>
                <a:ea typeface="Roboto"/>
                <a:cs typeface="Roboto"/>
                <a:sym typeface="Roboto"/>
              </a:rPr>
              <a:t>EE655 - CVDL PROJECT</a:t>
            </a:r>
            <a:endParaRPr sz="1600">
              <a:solidFill>
                <a:srgbClr val="FFBC8F"/>
              </a:solidFill>
              <a:latin typeface="Roboto"/>
              <a:ea typeface="Roboto"/>
              <a:cs typeface="Roboto"/>
              <a:sym typeface="Roboto"/>
            </a:endParaRPr>
          </a:p>
          <a:p>
            <a:pPr indent="0" lvl="0" marL="0" marR="0" rtl="0" algn="l">
              <a:lnSpc>
                <a:spcPct val="160714"/>
              </a:lnSpc>
              <a:spcBef>
                <a:spcPts val="0"/>
              </a:spcBef>
              <a:spcAft>
                <a:spcPts val="0"/>
              </a:spcAft>
              <a:buClr>
                <a:srgbClr val="FFBC8F"/>
              </a:buClr>
              <a:buSzPts val="1400"/>
              <a:buFont typeface="Roboto"/>
              <a:buNone/>
            </a:pPr>
            <a:r>
              <a:rPr b="0" i="0" lang="en-US" sz="1600" u="none" cap="none" strike="noStrike">
                <a:solidFill>
                  <a:srgbClr val="FFBC8F"/>
                </a:solidFill>
                <a:latin typeface="Roboto"/>
                <a:ea typeface="Roboto"/>
                <a:cs typeface="Roboto"/>
                <a:sym typeface="Roboto"/>
              </a:rPr>
              <a:t>IIT KANPUR </a:t>
            </a:r>
            <a:r>
              <a:rPr lang="en-US" sz="1600">
                <a:solidFill>
                  <a:srgbClr val="FFBC8F"/>
                </a:solidFill>
                <a:latin typeface="Roboto"/>
                <a:ea typeface="Roboto"/>
                <a:cs typeface="Roboto"/>
                <a:sym typeface="Roboto"/>
              </a:rPr>
              <a:t> </a:t>
            </a:r>
            <a:endParaRPr sz="1600">
              <a:solidFill>
                <a:srgbClr val="FFBC8F"/>
              </a:solidFill>
              <a:latin typeface="Roboto"/>
              <a:ea typeface="Roboto"/>
              <a:cs typeface="Roboto"/>
              <a:sym typeface="Roboto"/>
            </a:endParaRPr>
          </a:p>
        </p:txBody>
      </p:sp>
      <p:sp>
        <p:nvSpPr>
          <p:cNvPr id="114" name="Google Shape;114;p35"/>
          <p:cNvSpPr txBox="1"/>
          <p:nvPr/>
        </p:nvSpPr>
        <p:spPr>
          <a:xfrm>
            <a:off x="790575" y="6286500"/>
            <a:ext cx="7810500" cy="1108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3600">
                <a:solidFill>
                  <a:srgbClr val="FFFFFF"/>
                </a:solidFill>
                <a:latin typeface="IBM Plex Sans"/>
                <a:ea typeface="IBM Plex Sans"/>
                <a:cs typeface="IBM Plex Sans"/>
                <a:sym typeface="IBM Plex Sans"/>
              </a:rPr>
              <a:t>Multi-Modal Gated Networks for Aesthetic Face Scoring</a:t>
            </a:r>
            <a:endParaRPr b="1" sz="3600">
              <a:solidFill>
                <a:srgbClr val="FFFFFF"/>
              </a:solidFill>
              <a:latin typeface="IBM Plex Sans"/>
              <a:ea typeface="IBM Plex Sans"/>
              <a:cs typeface="IBM Plex Sans"/>
              <a:sym typeface="IBM Plex Sans"/>
            </a:endParaRPr>
          </a:p>
        </p:txBody>
      </p:sp>
      <p:grpSp>
        <p:nvGrpSpPr>
          <p:cNvPr id="115" name="Google Shape;115;p35"/>
          <p:cNvGrpSpPr/>
          <p:nvPr/>
        </p:nvGrpSpPr>
        <p:grpSpPr>
          <a:xfrm>
            <a:off x="790575" y="2047875"/>
            <a:ext cx="8143875" cy="2143125"/>
            <a:chOff x="790575" y="2047875"/>
            <a:chExt cx="8143875" cy="2143125"/>
          </a:xfrm>
        </p:grpSpPr>
        <p:sp>
          <p:nvSpPr>
            <p:cNvPr id="116" name="Google Shape;116;p35"/>
            <p:cNvSpPr/>
            <p:nvPr/>
          </p:nvSpPr>
          <p:spPr>
            <a:xfrm>
              <a:off x="790575" y="2047875"/>
              <a:ext cx="571500" cy="38100"/>
            </a:xfrm>
            <a:prstGeom prst="rect">
              <a:avLst/>
            </a:prstGeom>
            <a:solidFill>
              <a:srgbClr val="FFBC8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35"/>
            <p:cNvSpPr/>
            <p:nvPr/>
          </p:nvSpPr>
          <p:spPr>
            <a:xfrm>
              <a:off x="8782050" y="4038600"/>
              <a:ext cx="152400" cy="152400"/>
            </a:xfrm>
            <a:prstGeom prst="ellipse">
              <a:avLst/>
            </a:prstGeom>
            <a:solidFill>
              <a:srgbClr val="FFBC8F">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35"/>
            <p:cNvSpPr/>
            <p:nvPr/>
          </p:nvSpPr>
          <p:spPr>
            <a:xfrm>
              <a:off x="8629650" y="4076700"/>
              <a:ext cx="76200" cy="76200"/>
            </a:xfrm>
            <a:prstGeom prst="ellipse">
              <a:avLst/>
            </a:prstGeom>
            <a:solidFill>
              <a:srgbClr val="FFBC8F">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6"/>
          <p:cNvSpPr/>
          <p:nvPr/>
        </p:nvSpPr>
        <p:spPr>
          <a:xfrm>
            <a:off x="9144000" y="0"/>
            <a:ext cx="5486400" cy="8229600"/>
          </a:xfrm>
          <a:prstGeom prst="rect">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5" name="Google Shape;125;p36"/>
          <p:cNvPicPr preferRelativeResize="0"/>
          <p:nvPr/>
        </p:nvPicPr>
        <p:blipFill rotWithShape="1">
          <a:blip r:embed="rId3">
            <a:alphaModFix/>
          </a:blip>
          <a:srcRect b="0" l="0" r="0" t="0"/>
          <a:stretch/>
        </p:blipFill>
        <p:spPr>
          <a:xfrm>
            <a:off x="9255812" y="0"/>
            <a:ext cx="5262775" cy="4557950"/>
          </a:xfrm>
          <a:prstGeom prst="rect">
            <a:avLst/>
          </a:prstGeom>
          <a:noFill/>
          <a:ln>
            <a:noFill/>
          </a:ln>
        </p:spPr>
      </p:pic>
      <p:sp>
        <p:nvSpPr>
          <p:cNvPr id="126" name="Google Shape;126;p36"/>
          <p:cNvSpPr/>
          <p:nvPr/>
        </p:nvSpPr>
        <p:spPr>
          <a:xfrm>
            <a:off x="793790" y="643295"/>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b="0" i="0" lang="en-US" sz="4450" u="none" cap="none" strike="noStrike">
                <a:solidFill>
                  <a:srgbClr val="F3F3F2"/>
                </a:solidFill>
                <a:latin typeface="IBM Plex Sans"/>
                <a:ea typeface="IBM Plex Sans"/>
                <a:cs typeface="IBM Plex Sans"/>
                <a:sym typeface="IBM Plex Sans"/>
              </a:rPr>
              <a:t>Two Competing Theories of Beauty</a:t>
            </a:r>
            <a:endParaRPr b="0" i="0" sz="4450" u="none" cap="none" strike="noStrike"/>
          </a:p>
        </p:txBody>
      </p:sp>
      <p:sp>
        <p:nvSpPr>
          <p:cNvPr id="127" name="Google Shape;127;p36"/>
          <p:cNvSpPr/>
          <p:nvPr/>
        </p:nvSpPr>
        <p:spPr>
          <a:xfrm>
            <a:off x="630436" y="2401014"/>
            <a:ext cx="3828217" cy="5185291"/>
          </a:xfrm>
          <a:prstGeom prst="roundRect">
            <a:avLst>
              <a:gd fmla="val 889" name="adj"/>
            </a:avLst>
          </a:prstGeom>
          <a:solidFill>
            <a:srgbClr val="FFBC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6"/>
          <p:cNvSpPr/>
          <p:nvPr/>
        </p:nvSpPr>
        <p:spPr>
          <a:xfrm>
            <a:off x="857250" y="262782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BM Plex Sans Medium"/>
              <a:buNone/>
            </a:pPr>
            <a:r>
              <a:rPr b="0" i="0" lang="en-US" sz="2200" u="none" cap="none" strike="noStrike">
                <a:solidFill>
                  <a:srgbClr val="000000"/>
                </a:solidFill>
                <a:latin typeface="IBM Plex Sans Medium"/>
                <a:ea typeface="IBM Plex Sans Medium"/>
                <a:cs typeface="IBM Plex Sans Medium"/>
                <a:sym typeface="IBM Plex Sans Medium"/>
              </a:rPr>
              <a:t>The Geometry View</a:t>
            </a:r>
            <a:endParaRPr b="0" i="0" sz="2200" u="none" cap="none" strike="noStrike"/>
          </a:p>
        </p:txBody>
      </p:sp>
      <p:sp>
        <p:nvSpPr>
          <p:cNvPr id="129" name="Google Shape;129;p36"/>
          <p:cNvSpPr/>
          <p:nvPr/>
        </p:nvSpPr>
        <p:spPr>
          <a:xfrm>
            <a:off x="857250" y="3208973"/>
            <a:ext cx="3374588"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750"/>
              <a:buFont typeface="Roboto"/>
              <a:buNone/>
            </a:pPr>
            <a:r>
              <a:rPr b="0" i="0" lang="en-US" sz="1750" u="none" cap="none" strike="noStrike">
                <a:solidFill>
                  <a:srgbClr val="000000"/>
                </a:solidFill>
                <a:latin typeface="Roboto"/>
                <a:ea typeface="Roboto"/>
                <a:cs typeface="Roboto"/>
                <a:sym typeface="Roboto"/>
              </a:rPr>
              <a:t>Facial attractiveness is governed by </a:t>
            </a:r>
            <a:r>
              <a:rPr b="1" i="0" lang="en-US" sz="1750" u="none" cap="none" strike="noStrike">
                <a:solidFill>
                  <a:srgbClr val="000000"/>
                </a:solidFill>
                <a:latin typeface="Roboto"/>
                <a:ea typeface="Roboto"/>
                <a:cs typeface="Roboto"/>
                <a:sym typeface="Roboto"/>
              </a:rPr>
              <a:t>symmetry</a:t>
            </a:r>
            <a:r>
              <a:rPr b="0" i="0" lang="en-US" sz="1750" u="none" cap="none" strike="noStrike">
                <a:solidFill>
                  <a:srgbClr val="000000"/>
                </a:solidFill>
                <a:latin typeface="Roboto"/>
                <a:ea typeface="Roboto"/>
                <a:cs typeface="Roboto"/>
                <a:sym typeface="Roboto"/>
              </a:rPr>
              <a:t> and </a:t>
            </a:r>
            <a:r>
              <a:rPr b="1" i="0" lang="en-US" sz="1750" u="none" cap="none" strike="noStrike">
                <a:solidFill>
                  <a:srgbClr val="000000"/>
                </a:solidFill>
                <a:latin typeface="Roboto"/>
                <a:ea typeface="Roboto"/>
                <a:cs typeface="Roboto"/>
                <a:sym typeface="Roboto"/>
              </a:rPr>
              <a:t>golden ratios</a:t>
            </a:r>
            <a:r>
              <a:rPr b="0" i="0" lang="en-US" sz="1750" u="none" cap="none" strike="noStrike">
                <a:solidFill>
                  <a:srgbClr val="000000"/>
                </a:solidFill>
                <a:latin typeface="Roboto"/>
                <a:ea typeface="Roboto"/>
                <a:cs typeface="Roboto"/>
                <a:sym typeface="Roboto"/>
              </a:rPr>
              <a:t> — measurable distances between eyes, nose, and lips. Plastic surgeons still rely on these landmark coordinates.</a:t>
            </a:r>
            <a:endParaRPr b="0" i="0" sz="1750" u="none" cap="none" strike="noStrike"/>
          </a:p>
        </p:txBody>
      </p:sp>
      <p:sp>
        <p:nvSpPr>
          <p:cNvPr id="130" name="Google Shape;130;p36"/>
          <p:cNvSpPr/>
          <p:nvPr/>
        </p:nvSpPr>
        <p:spPr>
          <a:xfrm>
            <a:off x="857250" y="5641538"/>
            <a:ext cx="3374588" cy="1689616"/>
          </a:xfrm>
          <a:prstGeom prst="roundRect">
            <a:avLst>
              <a:gd fmla="val 2014" name="adj"/>
            </a:avLst>
          </a:prstGeom>
          <a:solidFill>
            <a:srgbClr val="4B3F0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1" name="Google Shape;131;p36"/>
          <p:cNvPicPr preferRelativeResize="0"/>
          <p:nvPr/>
        </p:nvPicPr>
        <p:blipFill rotWithShape="1">
          <a:blip r:embed="rId4">
            <a:alphaModFix/>
          </a:blip>
          <a:srcRect b="0" l="0" r="0" t="0"/>
          <a:stretch/>
        </p:blipFill>
        <p:spPr>
          <a:xfrm>
            <a:off x="1084064" y="5985629"/>
            <a:ext cx="283488" cy="226814"/>
          </a:xfrm>
          <a:prstGeom prst="rect">
            <a:avLst/>
          </a:prstGeom>
          <a:noFill/>
          <a:ln>
            <a:noFill/>
          </a:ln>
        </p:spPr>
      </p:pic>
      <p:sp>
        <p:nvSpPr>
          <p:cNvPr id="132" name="Google Shape;132;p36"/>
          <p:cNvSpPr/>
          <p:nvPr/>
        </p:nvSpPr>
        <p:spPr>
          <a:xfrm>
            <a:off x="1594366" y="5925026"/>
            <a:ext cx="2410658"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Roboto"/>
              <a:buNone/>
            </a:pPr>
            <a:r>
              <a:rPr b="0" i="0" lang="en-US" sz="1750" u="none" cap="none" strike="noStrike">
                <a:solidFill>
                  <a:srgbClr val="FFFFFF"/>
                </a:solidFill>
                <a:latin typeface="Roboto"/>
                <a:ea typeface="Roboto"/>
                <a:cs typeface="Roboto"/>
                <a:sym typeface="Roboto"/>
              </a:rPr>
              <a:t>But: perfectly symmetric faces often look </a:t>
            </a:r>
            <a:r>
              <a:rPr b="1" i="0" lang="en-US" sz="1750" u="none" cap="none" strike="noStrike">
                <a:solidFill>
                  <a:srgbClr val="FFFFFF"/>
                </a:solidFill>
                <a:latin typeface="Roboto"/>
                <a:ea typeface="Roboto"/>
                <a:cs typeface="Roboto"/>
                <a:sym typeface="Roboto"/>
              </a:rPr>
              <a:t>unnatural</a:t>
            </a:r>
            <a:r>
              <a:rPr b="0" i="0" lang="en-US" sz="1750" u="none" cap="none" strike="noStrike">
                <a:solidFill>
                  <a:srgbClr val="FFFFFF"/>
                </a:solidFill>
                <a:latin typeface="Roboto"/>
                <a:ea typeface="Roboto"/>
                <a:cs typeface="Roboto"/>
                <a:sym typeface="Roboto"/>
              </a:rPr>
              <a:t>.</a:t>
            </a:r>
            <a:endParaRPr b="0" i="0" sz="1750" u="none" cap="none" strike="noStrike"/>
          </a:p>
        </p:txBody>
      </p:sp>
      <p:sp>
        <p:nvSpPr>
          <p:cNvPr id="133" name="Google Shape;133;p36"/>
          <p:cNvSpPr/>
          <p:nvPr/>
        </p:nvSpPr>
        <p:spPr>
          <a:xfrm>
            <a:off x="4856321" y="262782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2200"/>
              <a:buFont typeface="IBM Plex Sans"/>
              <a:buNone/>
            </a:pPr>
            <a:r>
              <a:rPr b="0" i="0" lang="en-US" sz="2200" u="none" cap="none" strike="noStrike">
                <a:solidFill>
                  <a:srgbClr val="F3F3F2"/>
                </a:solidFill>
                <a:latin typeface="IBM Plex Sans"/>
                <a:ea typeface="IBM Plex Sans"/>
                <a:cs typeface="IBM Plex Sans"/>
                <a:sym typeface="IBM Plex Sans"/>
              </a:rPr>
              <a:t>The Texture View</a:t>
            </a:r>
            <a:endParaRPr b="0" i="0" sz="2200" u="none" cap="none" strike="noStrike"/>
          </a:p>
        </p:txBody>
      </p:sp>
      <p:sp>
        <p:nvSpPr>
          <p:cNvPr id="134" name="Google Shape;134;p36"/>
          <p:cNvSpPr/>
          <p:nvPr/>
        </p:nvSpPr>
        <p:spPr>
          <a:xfrm>
            <a:off x="4856321" y="3208973"/>
            <a:ext cx="35015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Beauty is mostly </a:t>
            </a:r>
            <a:r>
              <a:rPr b="1" i="0" lang="en-US" sz="1750" u="none" cap="none" strike="noStrike">
                <a:solidFill>
                  <a:srgbClr val="D4D4D1"/>
                </a:solidFill>
                <a:latin typeface="Roboto"/>
                <a:ea typeface="Roboto"/>
                <a:cs typeface="Roboto"/>
                <a:sym typeface="Roboto"/>
              </a:rPr>
              <a:t>surface-level</a:t>
            </a:r>
            <a:r>
              <a:rPr b="0" i="0" lang="en-US" sz="1750" u="none" cap="none" strike="noStrike">
                <a:solidFill>
                  <a:srgbClr val="D4D4D1"/>
                </a:solidFill>
                <a:latin typeface="Roboto"/>
                <a:ea typeface="Roboto"/>
                <a:cs typeface="Roboto"/>
                <a:sym typeface="Roboto"/>
              </a:rPr>
              <a:t> — skin quality, lighting, makeup, and expression. These cues are perceptual, not geometric.</a:t>
            </a:r>
            <a:endParaRPr b="0" i="0" sz="1750" u="none" cap="none" strike="noStrike"/>
          </a:p>
        </p:txBody>
      </p:sp>
      <p:sp>
        <p:nvSpPr>
          <p:cNvPr id="135" name="Google Shape;135;p36"/>
          <p:cNvSpPr/>
          <p:nvPr/>
        </p:nvSpPr>
        <p:spPr>
          <a:xfrm>
            <a:off x="4856321" y="488739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2200"/>
              <a:buFont typeface="IBM Plex Sans"/>
              <a:buNone/>
            </a:pPr>
            <a:r>
              <a:rPr b="0" i="0" lang="en-US" sz="2200" u="none" cap="none" strike="noStrike">
                <a:solidFill>
                  <a:srgbClr val="F3F3F2"/>
                </a:solidFill>
                <a:latin typeface="IBM Plex Sans"/>
                <a:ea typeface="IBM Plex Sans"/>
                <a:cs typeface="IBM Plex Sans"/>
                <a:sym typeface="IBM Plex Sans"/>
              </a:rPr>
              <a:t>Our Question</a:t>
            </a:r>
            <a:endParaRPr b="0" i="0" sz="2200" u="none" cap="none" strike="noStrike"/>
          </a:p>
        </p:txBody>
      </p:sp>
      <p:sp>
        <p:nvSpPr>
          <p:cNvPr id="136" name="Google Shape;136;p36"/>
          <p:cNvSpPr/>
          <p:nvPr/>
        </p:nvSpPr>
        <p:spPr>
          <a:xfrm>
            <a:off x="4856321" y="5468541"/>
            <a:ext cx="35015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Which factor truly governs perceived attractiveness? Can we </a:t>
            </a:r>
            <a:r>
              <a:rPr b="1" i="0" lang="en-US" sz="1750" u="none" cap="none" strike="noStrike">
                <a:solidFill>
                  <a:srgbClr val="D4D4D1"/>
                </a:solidFill>
                <a:latin typeface="Roboto"/>
                <a:ea typeface="Roboto"/>
                <a:cs typeface="Roboto"/>
                <a:sym typeface="Roboto"/>
              </a:rPr>
              <a:t>disentangle</a:t>
            </a:r>
            <a:r>
              <a:rPr b="0" i="0" lang="en-US" sz="1750" u="none" cap="none" strike="noStrike">
                <a:solidFill>
                  <a:srgbClr val="D4D4D1"/>
                </a:solidFill>
                <a:latin typeface="Roboto"/>
                <a:ea typeface="Roboto"/>
                <a:cs typeface="Roboto"/>
                <a:sym typeface="Roboto"/>
              </a:rPr>
              <a:t> the two in a principled way?</a:t>
            </a:r>
            <a:endParaRPr b="0" i="0" sz="1750" u="none" cap="none" strike="noStrike"/>
          </a:p>
        </p:txBody>
      </p:sp>
      <p:pic>
        <p:nvPicPr>
          <p:cNvPr id="137" name="Google Shape;137;p36"/>
          <p:cNvPicPr preferRelativeResize="0"/>
          <p:nvPr/>
        </p:nvPicPr>
        <p:blipFill rotWithShape="1">
          <a:blip r:embed="rId5">
            <a:alphaModFix/>
          </a:blip>
          <a:srcRect b="0" l="0" r="0" t="0"/>
          <a:stretch/>
        </p:blipFill>
        <p:spPr>
          <a:xfrm>
            <a:off x="9756250" y="0"/>
            <a:ext cx="4393089" cy="4875826"/>
          </a:xfrm>
          <a:prstGeom prst="rect">
            <a:avLst/>
          </a:prstGeom>
          <a:noFill/>
          <a:ln>
            <a:noFill/>
          </a:ln>
        </p:spPr>
      </p:pic>
      <p:pic>
        <p:nvPicPr>
          <p:cNvPr id="138" name="Google Shape;138;p36"/>
          <p:cNvPicPr preferRelativeResize="0"/>
          <p:nvPr/>
        </p:nvPicPr>
        <p:blipFill>
          <a:blip r:embed="rId6">
            <a:alphaModFix/>
          </a:blip>
          <a:stretch>
            <a:fillRect/>
          </a:stretch>
        </p:blipFill>
        <p:spPr>
          <a:xfrm>
            <a:off x="9144000" y="4875826"/>
            <a:ext cx="5486399" cy="3356575"/>
          </a:xfrm>
          <a:prstGeom prst="rect">
            <a:avLst/>
          </a:prstGeom>
          <a:solidFill>
            <a:srgbClr val="484B51"/>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7"/>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7"/>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7"/>
          <p:cNvSpPr/>
          <p:nvPr/>
        </p:nvSpPr>
        <p:spPr>
          <a:xfrm>
            <a:off x="1568308" y="458750"/>
            <a:ext cx="11913300" cy="520500"/>
          </a:xfrm>
          <a:prstGeom prst="rect">
            <a:avLst/>
          </a:prstGeom>
          <a:noFill/>
          <a:ln>
            <a:noFill/>
          </a:ln>
        </p:spPr>
        <p:txBody>
          <a:bodyPr anchorCtr="0" anchor="t" bIns="0" lIns="0" spcFirstLastPara="1" rIns="0" wrap="square" tIns="0">
            <a:noAutofit/>
          </a:bodyPr>
          <a:lstStyle/>
          <a:p>
            <a:pPr indent="0" lvl="0" marL="0" marR="0" rtl="0" algn="l">
              <a:lnSpc>
                <a:spcPct val="124615"/>
              </a:lnSpc>
              <a:spcBef>
                <a:spcPts val="0"/>
              </a:spcBef>
              <a:spcAft>
                <a:spcPts val="0"/>
              </a:spcAft>
              <a:buClr>
                <a:srgbClr val="F3F3F2"/>
              </a:buClr>
              <a:buSzPts val="3250"/>
              <a:buFont typeface="IBM Plex Sans"/>
              <a:buNone/>
            </a:pPr>
            <a:r>
              <a:rPr lang="en-US" sz="3250">
                <a:solidFill>
                  <a:srgbClr val="F3F3F2"/>
                </a:solidFill>
                <a:latin typeface="IBM Plex Sans"/>
                <a:ea typeface="IBM Plex Sans"/>
                <a:cs typeface="IBM Plex Sans"/>
                <a:sym typeface="IBM Plex Sans"/>
              </a:rPr>
              <a:t>Previous Work / Datasets</a:t>
            </a:r>
            <a:r>
              <a:rPr b="0" i="0" lang="en-US" sz="3250" u="none" cap="none" strike="noStrike">
                <a:solidFill>
                  <a:srgbClr val="F3F3F2"/>
                </a:solidFill>
                <a:latin typeface="IBM Plex Sans"/>
                <a:ea typeface="IBM Plex Sans"/>
                <a:cs typeface="IBM Plex Sans"/>
                <a:sym typeface="IBM Plex Sans"/>
              </a:rPr>
              <a:t> &amp; Experimental Strategy</a:t>
            </a:r>
            <a:endParaRPr b="0" i="0" sz="3250" u="none" cap="none" strike="noStrike"/>
          </a:p>
        </p:txBody>
      </p:sp>
      <p:pic>
        <p:nvPicPr>
          <p:cNvPr descr="preencoded.png" id="147" name="Google Shape;147;p37"/>
          <p:cNvPicPr preferRelativeResize="0"/>
          <p:nvPr/>
        </p:nvPicPr>
        <p:blipFill rotWithShape="1">
          <a:blip r:embed="rId3">
            <a:alphaModFix/>
          </a:blip>
          <a:srcRect b="0" l="0" r="0" t="0"/>
          <a:stretch/>
        </p:blipFill>
        <p:spPr>
          <a:xfrm>
            <a:off x="1568291" y="1300282"/>
            <a:ext cx="7328655" cy="4885731"/>
          </a:xfrm>
          <a:prstGeom prst="rect">
            <a:avLst/>
          </a:prstGeom>
          <a:noFill/>
          <a:ln>
            <a:noFill/>
          </a:ln>
        </p:spPr>
      </p:pic>
      <p:sp>
        <p:nvSpPr>
          <p:cNvPr id="148" name="Google Shape;148;p37"/>
          <p:cNvSpPr/>
          <p:nvPr/>
        </p:nvSpPr>
        <p:spPr>
          <a:xfrm>
            <a:off x="9346395" y="1963073"/>
            <a:ext cx="2082300" cy="26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1600"/>
              <a:buFont typeface="IBM Plex Sans"/>
              <a:buNone/>
            </a:pPr>
            <a:r>
              <a:rPr b="0" i="0" lang="en-US" sz="1600" u="none" cap="none" strike="noStrike">
                <a:solidFill>
                  <a:srgbClr val="F3F3F2"/>
                </a:solidFill>
                <a:latin typeface="IBM Plex Sans"/>
                <a:ea typeface="IBM Plex Sans"/>
                <a:cs typeface="IBM Plex Sans"/>
                <a:sym typeface="IBM Plex Sans"/>
              </a:rPr>
              <a:t>SCUT-FBP5500</a:t>
            </a:r>
            <a:endParaRPr b="0" i="0" sz="1600" u="none" cap="none" strike="noStrike"/>
          </a:p>
        </p:txBody>
      </p:sp>
      <p:sp>
        <p:nvSpPr>
          <p:cNvPr id="149" name="Google Shape;149;p37"/>
          <p:cNvSpPr/>
          <p:nvPr/>
        </p:nvSpPr>
        <p:spPr>
          <a:xfrm>
            <a:off x="9307770" y="2400746"/>
            <a:ext cx="3758700" cy="6933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D4D4D1"/>
              </a:buClr>
              <a:buSzPts val="1300"/>
              <a:buFont typeface="Roboto"/>
              <a:buNone/>
            </a:pPr>
            <a:r>
              <a:rPr b="0" i="0" lang="en-US" sz="1300" u="none" cap="none" strike="noStrike">
                <a:solidFill>
                  <a:srgbClr val="D4D4D1"/>
                </a:solidFill>
                <a:latin typeface="Roboto"/>
                <a:ea typeface="Roboto"/>
                <a:cs typeface="Roboto"/>
                <a:sym typeface="Roboto"/>
              </a:rPr>
              <a:t>5,500 frontal faces, each rated by 60 annotators on a 1–5 attractiveness scale. Ratings are averaged — introducing inherent subjectivity.</a:t>
            </a:r>
            <a:endParaRPr b="0" i="0" sz="1300" u="none" cap="none" strike="noStrike"/>
          </a:p>
        </p:txBody>
      </p:sp>
      <p:sp>
        <p:nvSpPr>
          <p:cNvPr id="150" name="Google Shape;150;p37"/>
          <p:cNvSpPr/>
          <p:nvPr/>
        </p:nvSpPr>
        <p:spPr>
          <a:xfrm>
            <a:off x="1568300" y="5810251"/>
            <a:ext cx="2399700" cy="462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1600"/>
              <a:buFont typeface="IBM Plex Sans"/>
              <a:buNone/>
            </a:pPr>
            <a:r>
              <a:rPr b="0" i="0" lang="en-US" sz="1600" u="sng" cap="none" strike="noStrike">
                <a:solidFill>
                  <a:srgbClr val="F3F3F2"/>
                </a:solidFill>
                <a:latin typeface="IBM Plex Sans"/>
                <a:ea typeface="IBM Plex Sans"/>
                <a:cs typeface="IBM Plex Sans"/>
                <a:sym typeface="IBM Plex Sans"/>
              </a:rPr>
              <a:t>Three-Pronged Approach</a:t>
            </a:r>
            <a:endParaRPr b="0" i="0" sz="1600" u="sng" cap="none" strike="noStrike"/>
          </a:p>
        </p:txBody>
      </p:sp>
      <p:sp>
        <p:nvSpPr>
          <p:cNvPr id="151" name="Google Shape;151;p37"/>
          <p:cNvSpPr/>
          <p:nvPr/>
        </p:nvSpPr>
        <p:spPr>
          <a:xfrm>
            <a:off x="1568291" y="6461046"/>
            <a:ext cx="333000" cy="2082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D4D4D1"/>
              </a:buClr>
              <a:buSzPts val="1300"/>
              <a:buFont typeface="IBM Plex Sans"/>
              <a:buNone/>
            </a:pPr>
            <a:r>
              <a:rPr b="0" i="0" lang="en-US" sz="1300" u="none" cap="none" strike="noStrike">
                <a:solidFill>
                  <a:srgbClr val="D4D4D1"/>
                </a:solidFill>
                <a:latin typeface="IBM Plex Sans"/>
                <a:ea typeface="IBM Plex Sans"/>
                <a:cs typeface="IBM Plex Sans"/>
                <a:sym typeface="IBM Plex Sans"/>
              </a:rPr>
              <a:t>01</a:t>
            </a:r>
            <a:endParaRPr b="0" i="0" sz="1300" u="none" cap="none" strike="noStrike"/>
          </a:p>
        </p:txBody>
      </p:sp>
      <p:sp>
        <p:nvSpPr>
          <p:cNvPr id="152" name="Google Shape;152;p37"/>
          <p:cNvSpPr/>
          <p:nvPr/>
        </p:nvSpPr>
        <p:spPr>
          <a:xfrm>
            <a:off x="1568291" y="6721078"/>
            <a:ext cx="3749700" cy="22800"/>
          </a:xfrm>
          <a:prstGeom prst="rect">
            <a:avLst/>
          </a:prstGeom>
          <a:solidFill>
            <a:srgbClr val="FFBC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7"/>
          <p:cNvSpPr/>
          <p:nvPr/>
        </p:nvSpPr>
        <p:spPr>
          <a:xfrm>
            <a:off x="1568291" y="6850023"/>
            <a:ext cx="2082300" cy="26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1600"/>
              <a:buFont typeface="IBM Plex Sans"/>
              <a:buNone/>
            </a:pPr>
            <a:r>
              <a:rPr b="0" i="0" lang="en-US" sz="1600" u="none" cap="none" strike="noStrike">
                <a:solidFill>
                  <a:srgbClr val="D4D4D1"/>
                </a:solidFill>
                <a:latin typeface="IBM Plex Sans"/>
                <a:ea typeface="IBM Plex Sans"/>
                <a:cs typeface="IBM Plex Sans"/>
                <a:sym typeface="IBM Plex Sans"/>
              </a:rPr>
              <a:t>Texture-Only Model</a:t>
            </a:r>
            <a:endParaRPr b="0" i="0" sz="1600" u="none" cap="none" strike="noStrike"/>
          </a:p>
        </p:txBody>
      </p:sp>
      <p:sp>
        <p:nvSpPr>
          <p:cNvPr id="154" name="Google Shape;154;p37"/>
          <p:cNvSpPr/>
          <p:nvPr/>
        </p:nvSpPr>
        <p:spPr>
          <a:xfrm>
            <a:off x="1568291" y="7183636"/>
            <a:ext cx="3749700" cy="4623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D4D4D1"/>
              </a:buClr>
              <a:buSzPts val="1300"/>
              <a:buFont typeface="Roboto"/>
              <a:buNone/>
            </a:pPr>
            <a:r>
              <a:rPr b="0" i="0" lang="en-US" sz="1300" u="none" cap="none" strike="noStrike">
                <a:solidFill>
                  <a:srgbClr val="D4D4D1"/>
                </a:solidFill>
                <a:latin typeface="Roboto"/>
                <a:ea typeface="Roboto"/>
                <a:cs typeface="Roboto"/>
                <a:sym typeface="Roboto"/>
              </a:rPr>
              <a:t>ResNet-18 on raw pixels — upper bound of explainable variance.</a:t>
            </a:r>
            <a:endParaRPr b="0" i="0" sz="1300" u="none" cap="none" strike="noStrike"/>
          </a:p>
        </p:txBody>
      </p:sp>
      <p:sp>
        <p:nvSpPr>
          <p:cNvPr id="155" name="Google Shape;155;p37"/>
          <p:cNvSpPr/>
          <p:nvPr/>
        </p:nvSpPr>
        <p:spPr>
          <a:xfrm>
            <a:off x="5440204" y="6461046"/>
            <a:ext cx="333000" cy="2082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D4D4D1"/>
              </a:buClr>
              <a:buSzPts val="1300"/>
              <a:buFont typeface="IBM Plex Sans"/>
              <a:buNone/>
            </a:pPr>
            <a:r>
              <a:rPr b="0" i="0" lang="en-US" sz="1300" u="none" cap="none" strike="noStrike">
                <a:solidFill>
                  <a:srgbClr val="D4D4D1"/>
                </a:solidFill>
                <a:latin typeface="IBM Plex Sans"/>
                <a:ea typeface="IBM Plex Sans"/>
                <a:cs typeface="IBM Plex Sans"/>
                <a:sym typeface="IBM Plex Sans"/>
              </a:rPr>
              <a:t>02</a:t>
            </a:r>
            <a:endParaRPr b="0" i="0" sz="1300" u="none" cap="none" strike="noStrike"/>
          </a:p>
        </p:txBody>
      </p:sp>
      <p:sp>
        <p:nvSpPr>
          <p:cNvPr id="156" name="Google Shape;156;p37"/>
          <p:cNvSpPr/>
          <p:nvPr/>
        </p:nvSpPr>
        <p:spPr>
          <a:xfrm>
            <a:off x="5440204" y="6721078"/>
            <a:ext cx="3749700" cy="22800"/>
          </a:xfrm>
          <a:prstGeom prst="rect">
            <a:avLst/>
          </a:prstGeom>
          <a:solidFill>
            <a:srgbClr val="FFBC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7"/>
          <p:cNvSpPr/>
          <p:nvPr/>
        </p:nvSpPr>
        <p:spPr>
          <a:xfrm>
            <a:off x="5440204" y="6850023"/>
            <a:ext cx="2197800" cy="26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1600"/>
              <a:buFont typeface="IBM Plex Sans"/>
              <a:buNone/>
            </a:pPr>
            <a:r>
              <a:rPr b="0" i="0" lang="en-US" sz="1600" u="none" cap="none" strike="noStrike">
                <a:solidFill>
                  <a:srgbClr val="D4D4D1"/>
                </a:solidFill>
                <a:latin typeface="IBM Plex Sans"/>
                <a:ea typeface="IBM Plex Sans"/>
                <a:cs typeface="IBM Plex Sans"/>
                <a:sym typeface="IBM Plex Sans"/>
              </a:rPr>
              <a:t>Geometry-Only Models</a:t>
            </a:r>
            <a:endParaRPr b="0" i="0" sz="1600" u="none" cap="none" strike="noStrike"/>
          </a:p>
        </p:txBody>
      </p:sp>
      <p:sp>
        <p:nvSpPr>
          <p:cNvPr id="158" name="Google Shape;158;p37"/>
          <p:cNvSpPr/>
          <p:nvPr/>
        </p:nvSpPr>
        <p:spPr>
          <a:xfrm>
            <a:off x="5440204" y="7183636"/>
            <a:ext cx="3749700" cy="2310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D4D4D1"/>
              </a:buClr>
              <a:buSzPts val="1300"/>
              <a:buFont typeface="Roboto"/>
              <a:buNone/>
            </a:pPr>
            <a:r>
              <a:rPr b="0" i="0" lang="en-US" sz="1300" u="none" cap="none" strike="noStrike">
                <a:solidFill>
                  <a:srgbClr val="D4D4D1"/>
                </a:solidFill>
                <a:latin typeface="Roboto"/>
                <a:ea typeface="Roboto"/>
                <a:cs typeface="Roboto"/>
                <a:sym typeface="Roboto"/>
              </a:rPr>
              <a:t>2D &amp; 3D landmarks — pure structural information.</a:t>
            </a:r>
            <a:endParaRPr b="0" i="0" sz="1300" u="none" cap="none" strike="noStrike"/>
          </a:p>
        </p:txBody>
      </p:sp>
      <p:sp>
        <p:nvSpPr>
          <p:cNvPr id="159" name="Google Shape;159;p37"/>
          <p:cNvSpPr/>
          <p:nvPr/>
        </p:nvSpPr>
        <p:spPr>
          <a:xfrm>
            <a:off x="9312235" y="6461046"/>
            <a:ext cx="333000" cy="2082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D4D4D1"/>
              </a:buClr>
              <a:buSzPts val="1300"/>
              <a:buFont typeface="IBM Plex Sans"/>
              <a:buNone/>
            </a:pPr>
            <a:r>
              <a:rPr b="0" i="0" lang="en-US" sz="1300" u="none" cap="none" strike="noStrike">
                <a:solidFill>
                  <a:srgbClr val="D4D4D1"/>
                </a:solidFill>
                <a:latin typeface="IBM Plex Sans"/>
                <a:ea typeface="IBM Plex Sans"/>
                <a:cs typeface="IBM Plex Sans"/>
                <a:sym typeface="IBM Plex Sans"/>
              </a:rPr>
              <a:t>03</a:t>
            </a:r>
            <a:endParaRPr b="0" i="0" sz="1300" u="none" cap="none" strike="noStrike"/>
          </a:p>
        </p:txBody>
      </p:sp>
      <p:sp>
        <p:nvSpPr>
          <p:cNvPr id="160" name="Google Shape;160;p37"/>
          <p:cNvSpPr/>
          <p:nvPr/>
        </p:nvSpPr>
        <p:spPr>
          <a:xfrm>
            <a:off x="9312235" y="6721078"/>
            <a:ext cx="3749700" cy="22800"/>
          </a:xfrm>
          <a:prstGeom prst="rect">
            <a:avLst/>
          </a:prstGeom>
          <a:solidFill>
            <a:srgbClr val="FFBC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7"/>
          <p:cNvSpPr/>
          <p:nvPr/>
        </p:nvSpPr>
        <p:spPr>
          <a:xfrm>
            <a:off x="9312235" y="6850023"/>
            <a:ext cx="2150700" cy="26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1600"/>
              <a:buFont typeface="IBM Plex Sans"/>
              <a:buNone/>
            </a:pPr>
            <a:r>
              <a:rPr b="0" i="0" lang="en-US" sz="1600" u="none" cap="none" strike="noStrike">
                <a:solidFill>
                  <a:srgbClr val="D4D4D1"/>
                </a:solidFill>
                <a:latin typeface="IBM Plex Sans"/>
                <a:ea typeface="IBM Plex Sans"/>
                <a:cs typeface="IBM Plex Sans"/>
                <a:sym typeface="IBM Plex Sans"/>
              </a:rPr>
              <a:t>Adaptive Gated Fusion</a:t>
            </a:r>
            <a:endParaRPr b="0" i="0" sz="1600" u="none" cap="none" strike="noStrike"/>
          </a:p>
        </p:txBody>
      </p:sp>
      <p:sp>
        <p:nvSpPr>
          <p:cNvPr id="162" name="Google Shape;162;p37"/>
          <p:cNvSpPr/>
          <p:nvPr/>
        </p:nvSpPr>
        <p:spPr>
          <a:xfrm>
            <a:off x="9312235" y="7183636"/>
            <a:ext cx="3749700" cy="4623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D4D4D1"/>
              </a:buClr>
              <a:buSzPts val="1300"/>
              <a:buFont typeface="Roboto"/>
              <a:buNone/>
            </a:pPr>
            <a:r>
              <a:rPr b="0" i="0" lang="en-US" sz="1300" u="none" cap="none" strike="noStrike">
                <a:solidFill>
                  <a:srgbClr val="D4D4D1"/>
                </a:solidFill>
                <a:latin typeface="Roboto"/>
                <a:ea typeface="Roboto"/>
                <a:cs typeface="Roboto"/>
                <a:sym typeface="Roboto"/>
              </a:rPr>
              <a:t>Network learns per-face when to trust texture vs. geometry.</a:t>
            </a:r>
            <a:endParaRPr b="0" i="0" sz="1300" u="none" cap="none" strike="noStrike"/>
          </a:p>
        </p:txBody>
      </p:sp>
      <p:pic>
        <p:nvPicPr>
          <p:cNvPr id="163" name="Google Shape;163;p37"/>
          <p:cNvPicPr preferRelativeResize="0"/>
          <p:nvPr/>
        </p:nvPicPr>
        <p:blipFill>
          <a:blip r:embed="rId4">
            <a:alphaModFix/>
          </a:blip>
          <a:stretch>
            <a:fillRect/>
          </a:stretch>
        </p:blipFill>
        <p:spPr>
          <a:xfrm>
            <a:off x="1568300" y="1566525"/>
            <a:ext cx="7553974" cy="4055234"/>
          </a:xfrm>
          <a:prstGeom prst="rect">
            <a:avLst/>
          </a:prstGeom>
          <a:noFill/>
          <a:ln>
            <a:noFill/>
          </a:ln>
        </p:spPr>
      </p:pic>
      <p:sp>
        <p:nvSpPr>
          <p:cNvPr id="164" name="Google Shape;164;p37"/>
          <p:cNvSpPr txBox="1"/>
          <p:nvPr/>
        </p:nvSpPr>
        <p:spPr>
          <a:xfrm>
            <a:off x="9248825" y="3346575"/>
            <a:ext cx="38766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lt1"/>
                </a:solidFill>
              </a:rPr>
              <a:t>It became a </a:t>
            </a:r>
            <a:r>
              <a:rPr b="1" lang="en-US" sz="1200">
                <a:solidFill>
                  <a:schemeClr val="lt1"/>
                </a:solidFill>
              </a:rPr>
              <a:t>standard benchmark dataset in FBP research.</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b="1" lang="en-US" sz="1100">
                <a:solidFill>
                  <a:schemeClr val="lt1"/>
                </a:solidFill>
              </a:rPr>
              <a:t>Authors:</a:t>
            </a:r>
            <a:r>
              <a:rPr lang="en-US" sz="1100">
                <a:solidFill>
                  <a:schemeClr val="lt1"/>
                </a:solidFill>
              </a:rPr>
              <a:t> Lingyu Liang, Luojun Lin, Lianwen Jin, Duorui Xie, Mengru Li</a:t>
            </a:r>
            <a:endParaRPr sz="12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8"/>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8"/>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8"/>
          <p:cNvSpPr/>
          <p:nvPr/>
        </p:nvSpPr>
        <p:spPr>
          <a:xfrm>
            <a:off x="781407" y="672465"/>
            <a:ext cx="8137500" cy="697800"/>
          </a:xfrm>
          <a:prstGeom prst="rect">
            <a:avLst/>
          </a:prstGeom>
          <a:noFill/>
          <a:ln>
            <a:noFill/>
          </a:ln>
        </p:spPr>
        <p:txBody>
          <a:bodyPr anchorCtr="0" anchor="t" bIns="0" lIns="0" spcFirstLastPara="1" rIns="0" wrap="square" tIns="0">
            <a:noAutofit/>
          </a:bodyPr>
          <a:lstStyle/>
          <a:p>
            <a:pPr indent="0" lvl="0" marL="0" marR="0" rtl="0" algn="l">
              <a:lnSpc>
                <a:spcPct val="125287"/>
              </a:lnSpc>
              <a:spcBef>
                <a:spcPts val="0"/>
              </a:spcBef>
              <a:spcAft>
                <a:spcPts val="0"/>
              </a:spcAft>
              <a:buClr>
                <a:srgbClr val="F3F3F2"/>
              </a:buClr>
              <a:buSzPts val="4350"/>
              <a:buFont typeface="IBM Plex Sans"/>
              <a:buNone/>
            </a:pPr>
            <a:r>
              <a:rPr b="0" i="0" lang="en-US" sz="4350" u="none" cap="none" strike="noStrike">
                <a:solidFill>
                  <a:srgbClr val="F3F3F2"/>
                </a:solidFill>
                <a:latin typeface="IBM Plex Sans"/>
                <a:ea typeface="IBM Plex Sans"/>
                <a:cs typeface="IBM Plex Sans"/>
                <a:sym typeface="IBM Plex Sans"/>
              </a:rPr>
              <a:t>Model Architectures at a Glance</a:t>
            </a:r>
            <a:endParaRPr b="0" i="0" sz="4350" u="none" cap="none" strike="noStrike"/>
          </a:p>
        </p:txBody>
      </p:sp>
      <p:sp>
        <p:nvSpPr>
          <p:cNvPr id="173" name="Google Shape;173;p38"/>
          <p:cNvSpPr/>
          <p:nvPr/>
        </p:nvSpPr>
        <p:spPr>
          <a:xfrm>
            <a:off x="781407" y="1809750"/>
            <a:ext cx="13067700" cy="4206600"/>
          </a:xfrm>
          <a:prstGeom prst="roundRect">
            <a:avLst>
              <a:gd fmla="val 796" name="adj"/>
            </a:avLst>
          </a:prstGeom>
          <a:noFill/>
          <a:ln cap="flat" cmpd="sng" w="9525">
            <a:solidFill>
              <a:srgbClr val="FFFFFF">
                <a:alpha val="2392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8"/>
          <p:cNvSpPr/>
          <p:nvPr/>
        </p:nvSpPr>
        <p:spPr>
          <a:xfrm>
            <a:off x="1013817" y="1956792"/>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1" i="0" lang="en-US" sz="1750" u="none" cap="none" strike="noStrike">
                <a:solidFill>
                  <a:srgbClr val="D4D4D1"/>
                </a:solidFill>
                <a:latin typeface="Roboto"/>
                <a:ea typeface="Roboto"/>
                <a:cs typeface="Roboto"/>
                <a:sym typeface="Roboto"/>
              </a:rPr>
              <a:t>Model</a:t>
            </a:r>
            <a:endParaRPr b="0" i="0" sz="1750" u="none" cap="none" strike="noStrike"/>
          </a:p>
        </p:txBody>
      </p:sp>
      <p:sp>
        <p:nvSpPr>
          <p:cNvPr id="175" name="Google Shape;175;p38"/>
          <p:cNvSpPr/>
          <p:nvPr/>
        </p:nvSpPr>
        <p:spPr>
          <a:xfrm>
            <a:off x="5367457" y="1956792"/>
            <a:ext cx="38958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1" i="0" lang="en-US" sz="1750" u="none" cap="none" strike="noStrike">
                <a:solidFill>
                  <a:srgbClr val="D4D4D1"/>
                </a:solidFill>
                <a:latin typeface="Roboto"/>
                <a:ea typeface="Roboto"/>
                <a:cs typeface="Roboto"/>
                <a:sym typeface="Roboto"/>
              </a:rPr>
              <a:t>Input</a:t>
            </a:r>
            <a:endParaRPr b="0" i="0" sz="1750" u="none" cap="none" strike="noStrike"/>
          </a:p>
        </p:txBody>
      </p:sp>
      <p:sp>
        <p:nvSpPr>
          <p:cNvPr id="176" name="Google Shape;176;p38"/>
          <p:cNvSpPr/>
          <p:nvPr/>
        </p:nvSpPr>
        <p:spPr>
          <a:xfrm>
            <a:off x="9717286" y="1956792"/>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1" i="0" lang="en-US" sz="1750" u="none" cap="none" strike="noStrike">
                <a:solidFill>
                  <a:srgbClr val="D4D4D1"/>
                </a:solidFill>
                <a:latin typeface="Roboto"/>
                <a:ea typeface="Roboto"/>
                <a:cs typeface="Roboto"/>
                <a:sym typeface="Roboto"/>
              </a:rPr>
              <a:t>Architecture</a:t>
            </a:r>
            <a:endParaRPr b="0" i="0" sz="1750" u="none" cap="none" strike="noStrike"/>
          </a:p>
        </p:txBody>
      </p:sp>
      <p:sp>
        <p:nvSpPr>
          <p:cNvPr id="177" name="Google Shape;177;p38"/>
          <p:cNvSpPr/>
          <p:nvPr/>
        </p:nvSpPr>
        <p:spPr>
          <a:xfrm>
            <a:off x="1013817" y="2597587"/>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M1 — Texture</a:t>
            </a:r>
            <a:endParaRPr b="0" i="0" sz="1750" u="none" cap="none" strike="noStrike"/>
          </a:p>
        </p:txBody>
      </p:sp>
      <p:sp>
        <p:nvSpPr>
          <p:cNvPr id="178" name="Google Shape;178;p38"/>
          <p:cNvSpPr/>
          <p:nvPr/>
        </p:nvSpPr>
        <p:spPr>
          <a:xfrm>
            <a:off x="5367457" y="2597587"/>
            <a:ext cx="38958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Image 224×224</a:t>
            </a:r>
            <a:endParaRPr b="0" i="0" sz="1750" u="none" cap="none" strike="noStrike"/>
          </a:p>
        </p:txBody>
      </p:sp>
      <p:sp>
        <p:nvSpPr>
          <p:cNvPr id="179" name="Google Shape;179;p38"/>
          <p:cNvSpPr/>
          <p:nvPr/>
        </p:nvSpPr>
        <p:spPr>
          <a:xfrm>
            <a:off x="9717286" y="2597587"/>
            <a:ext cx="3899400" cy="7086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ResNet-18 pretrained + regression head</a:t>
            </a:r>
            <a:endParaRPr b="0" i="0" sz="1750" u="none" cap="none" strike="noStrike"/>
          </a:p>
        </p:txBody>
      </p:sp>
      <p:sp>
        <p:nvSpPr>
          <p:cNvPr id="180" name="Google Shape;180;p38"/>
          <p:cNvSpPr/>
          <p:nvPr/>
        </p:nvSpPr>
        <p:spPr>
          <a:xfrm>
            <a:off x="1013817" y="3592711"/>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M2 — 2D Geo</a:t>
            </a:r>
            <a:endParaRPr b="0" i="0" sz="1750" u="none" cap="none" strike="noStrike"/>
          </a:p>
        </p:txBody>
      </p:sp>
      <p:sp>
        <p:nvSpPr>
          <p:cNvPr id="181" name="Google Shape;181;p38"/>
          <p:cNvSpPr/>
          <p:nvPr/>
        </p:nvSpPr>
        <p:spPr>
          <a:xfrm>
            <a:off x="5367457" y="3592711"/>
            <a:ext cx="38958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468 landmarks → 1,404 distances</a:t>
            </a:r>
            <a:endParaRPr b="0" i="0" sz="1750" u="none" cap="none" strike="noStrike"/>
          </a:p>
        </p:txBody>
      </p:sp>
      <p:sp>
        <p:nvSpPr>
          <p:cNvPr id="182" name="Google Shape;182;p38"/>
          <p:cNvSpPr/>
          <p:nvPr/>
        </p:nvSpPr>
        <p:spPr>
          <a:xfrm>
            <a:off x="9717286" y="3592711"/>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MLP [256, 128] → 1</a:t>
            </a:r>
            <a:endParaRPr b="0" i="0" sz="1750" u="none" cap="none" strike="noStrike"/>
          </a:p>
        </p:txBody>
      </p:sp>
      <p:sp>
        <p:nvSpPr>
          <p:cNvPr id="183" name="Google Shape;183;p38"/>
          <p:cNvSpPr/>
          <p:nvPr/>
        </p:nvSpPr>
        <p:spPr>
          <a:xfrm>
            <a:off x="1013817" y="4233505"/>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M3 — 3D Geo</a:t>
            </a:r>
            <a:endParaRPr b="0" i="0" sz="1750" u="none" cap="none" strike="noStrike"/>
          </a:p>
        </p:txBody>
      </p:sp>
      <p:sp>
        <p:nvSpPr>
          <p:cNvPr id="184" name="Google Shape;184;p38"/>
          <p:cNvSpPr/>
          <p:nvPr/>
        </p:nvSpPr>
        <p:spPr>
          <a:xfrm>
            <a:off x="5367457" y="4233505"/>
            <a:ext cx="38958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3D landmarks + Procrustes alignment</a:t>
            </a:r>
            <a:endParaRPr b="0" i="0" sz="1750" u="none" cap="none" strike="noStrike"/>
          </a:p>
        </p:txBody>
      </p:sp>
      <p:sp>
        <p:nvSpPr>
          <p:cNvPr id="185" name="Google Shape;185;p38"/>
          <p:cNvSpPr/>
          <p:nvPr/>
        </p:nvSpPr>
        <p:spPr>
          <a:xfrm>
            <a:off x="9717286" y="4233505"/>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MLP [256, 128] → 1</a:t>
            </a:r>
            <a:endParaRPr b="0" i="0" sz="1750" u="none" cap="none" strike="noStrike"/>
          </a:p>
        </p:txBody>
      </p:sp>
      <p:sp>
        <p:nvSpPr>
          <p:cNvPr id="186" name="Google Shape;186;p38"/>
          <p:cNvSpPr/>
          <p:nvPr/>
        </p:nvSpPr>
        <p:spPr>
          <a:xfrm>
            <a:off x="1013817" y="4874300"/>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1" i="0" lang="en-US" sz="1750" u="none" cap="none" strike="noStrike">
                <a:solidFill>
                  <a:srgbClr val="D4D4D1"/>
                </a:solidFill>
                <a:latin typeface="Roboto"/>
                <a:ea typeface="Roboto"/>
                <a:cs typeface="Roboto"/>
                <a:sym typeface="Roboto"/>
              </a:rPr>
              <a:t>M4 — Gated Fusion</a:t>
            </a:r>
            <a:endParaRPr b="0" i="0" sz="1750" u="none" cap="none" strike="noStrike"/>
          </a:p>
        </p:txBody>
      </p:sp>
      <p:sp>
        <p:nvSpPr>
          <p:cNvPr id="187" name="Google Shape;187;p38"/>
          <p:cNvSpPr/>
          <p:nvPr/>
        </p:nvSpPr>
        <p:spPr>
          <a:xfrm>
            <a:off x="5367457" y="4874300"/>
            <a:ext cx="38958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Image + 3D landmarks</a:t>
            </a:r>
            <a:endParaRPr b="0" i="0" sz="1750" u="none" cap="none" strike="noStrike"/>
          </a:p>
        </p:txBody>
      </p:sp>
      <p:sp>
        <p:nvSpPr>
          <p:cNvPr id="188" name="Google Shape;188;p38"/>
          <p:cNvSpPr/>
          <p:nvPr/>
        </p:nvSpPr>
        <p:spPr>
          <a:xfrm>
            <a:off x="9717286" y="4874300"/>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ResNet-18 + MLP + Gating (α, β)</a:t>
            </a:r>
            <a:endParaRPr b="0" i="0" sz="1750" u="none" cap="none" strike="noStrike"/>
          </a:p>
        </p:txBody>
      </p:sp>
      <p:sp>
        <p:nvSpPr>
          <p:cNvPr id="189" name="Google Shape;189;p38"/>
          <p:cNvSpPr/>
          <p:nvPr/>
        </p:nvSpPr>
        <p:spPr>
          <a:xfrm>
            <a:off x="1013817" y="5515094"/>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M5–M8</a:t>
            </a:r>
            <a:endParaRPr b="0" i="0" sz="1750" u="none" cap="none" strike="noStrike"/>
          </a:p>
        </p:txBody>
      </p:sp>
      <p:sp>
        <p:nvSpPr>
          <p:cNvPr id="190" name="Google Shape;190;p38"/>
          <p:cNvSpPr/>
          <p:nvPr/>
        </p:nvSpPr>
        <p:spPr>
          <a:xfrm>
            <a:off x="5367457" y="5515094"/>
            <a:ext cx="38958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Various</a:t>
            </a:r>
            <a:endParaRPr b="0" i="0" sz="1750" u="none" cap="none" strike="noStrike"/>
          </a:p>
        </p:txBody>
      </p:sp>
      <p:sp>
        <p:nvSpPr>
          <p:cNvPr id="191" name="Google Shape;191;p38"/>
          <p:cNvSpPr/>
          <p:nvPr/>
        </p:nvSpPr>
        <p:spPr>
          <a:xfrm>
            <a:off x="9717286" y="5515094"/>
            <a:ext cx="3899400" cy="3543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ViT, Cross-Attention Transformers</a:t>
            </a:r>
            <a:endParaRPr b="0" i="0" sz="1750" u="none" cap="none" strike="noStrike"/>
          </a:p>
        </p:txBody>
      </p:sp>
      <p:sp>
        <p:nvSpPr>
          <p:cNvPr id="192" name="Google Shape;192;p38"/>
          <p:cNvSpPr/>
          <p:nvPr/>
        </p:nvSpPr>
        <p:spPr>
          <a:xfrm>
            <a:off x="781407" y="6263640"/>
            <a:ext cx="13067700" cy="1293600"/>
          </a:xfrm>
          <a:prstGeom prst="roundRect">
            <a:avLst>
              <a:gd fmla="val 2589" name="adj"/>
            </a:avLst>
          </a:prstGeom>
          <a:solidFill>
            <a:srgbClr val="0223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3" name="Google Shape;193;p38"/>
          <p:cNvPicPr preferRelativeResize="0"/>
          <p:nvPr/>
        </p:nvPicPr>
        <p:blipFill rotWithShape="1">
          <a:blip r:embed="rId3">
            <a:alphaModFix/>
          </a:blip>
          <a:srcRect b="0" l="0" r="0" t="0"/>
          <a:stretch/>
        </p:blipFill>
        <p:spPr>
          <a:xfrm>
            <a:off x="1004649" y="6598682"/>
            <a:ext cx="279083" cy="223242"/>
          </a:xfrm>
          <a:prstGeom prst="rect">
            <a:avLst/>
          </a:prstGeom>
          <a:noFill/>
          <a:ln>
            <a:noFill/>
          </a:ln>
        </p:spPr>
      </p:pic>
      <p:sp>
        <p:nvSpPr>
          <p:cNvPr id="194" name="Google Shape;194;p38"/>
          <p:cNvSpPr/>
          <p:nvPr/>
        </p:nvSpPr>
        <p:spPr>
          <a:xfrm>
            <a:off x="1506974" y="6539151"/>
            <a:ext cx="12118800" cy="7086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1750"/>
              <a:buFont typeface="Roboto"/>
              <a:buNone/>
            </a:pPr>
            <a:r>
              <a:rPr b="1" i="0" lang="en-US" sz="1750" u="none" cap="none" strike="noStrike">
                <a:solidFill>
                  <a:srgbClr val="FFFFFF"/>
                </a:solidFill>
                <a:latin typeface="Roboto"/>
                <a:ea typeface="Roboto"/>
                <a:cs typeface="Roboto"/>
                <a:sym typeface="Roboto"/>
              </a:rPr>
              <a:t>Key novelty in M4:</a:t>
            </a:r>
            <a:r>
              <a:rPr b="0" i="0" lang="en-US" sz="1750" u="none" cap="none" strike="noStrike">
                <a:solidFill>
                  <a:srgbClr val="FFFFFF"/>
                </a:solidFill>
                <a:latin typeface="Roboto"/>
                <a:ea typeface="Roboto"/>
                <a:cs typeface="Roboto"/>
                <a:sym typeface="Roboto"/>
              </a:rPr>
              <a:t> ŷ = α · y_img + β · y_land, where α + β = 1, and both α, β are learned dynamically from image features per face.</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9"/>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9"/>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9"/>
          <p:cNvSpPr/>
          <p:nvPr/>
        </p:nvSpPr>
        <p:spPr>
          <a:xfrm>
            <a:off x="793790" y="714137"/>
            <a:ext cx="119994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b="0" i="0" lang="en-US" sz="4450" u="none" cap="none" strike="noStrike">
                <a:solidFill>
                  <a:srgbClr val="F3F3F2"/>
                </a:solidFill>
                <a:latin typeface="IBM Plex Sans"/>
                <a:ea typeface="IBM Plex Sans"/>
                <a:cs typeface="IBM Plex Sans"/>
                <a:sym typeface="IBM Plex Sans"/>
              </a:rPr>
              <a:t>Key Results — Correlation with Human Ratings</a:t>
            </a:r>
            <a:endParaRPr b="0" i="0" sz="4450" u="none" cap="none" strike="noStrike"/>
          </a:p>
        </p:txBody>
      </p:sp>
      <p:pic>
        <p:nvPicPr>
          <p:cNvPr descr="preencoded.png" id="203" name="Google Shape;203;p39"/>
          <p:cNvPicPr preferRelativeResize="0"/>
          <p:nvPr/>
        </p:nvPicPr>
        <p:blipFill rotWithShape="1">
          <a:blip r:embed="rId3">
            <a:alphaModFix/>
          </a:blip>
          <a:srcRect b="0" l="0" r="0" t="0"/>
          <a:stretch/>
        </p:blipFill>
        <p:spPr>
          <a:xfrm>
            <a:off x="793790" y="2319695"/>
            <a:ext cx="8284130" cy="4639033"/>
          </a:xfrm>
          <a:prstGeom prst="rect">
            <a:avLst/>
          </a:prstGeom>
          <a:noFill/>
          <a:ln>
            <a:noFill/>
          </a:ln>
        </p:spPr>
      </p:pic>
      <p:sp>
        <p:nvSpPr>
          <p:cNvPr id="204" name="Google Shape;204;p39"/>
          <p:cNvSpPr/>
          <p:nvPr/>
        </p:nvSpPr>
        <p:spPr>
          <a:xfrm>
            <a:off x="9638943" y="1989892"/>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2200"/>
              <a:buFont typeface="IBM Plex Sans"/>
              <a:buNone/>
            </a:pPr>
            <a:r>
              <a:rPr b="0" i="0" lang="en-US" sz="2200" u="none" cap="none" strike="noStrike">
                <a:solidFill>
                  <a:srgbClr val="F3F3F2"/>
                </a:solidFill>
                <a:latin typeface="IBM Plex Sans"/>
                <a:ea typeface="IBM Plex Sans"/>
                <a:cs typeface="IBM Plex Sans"/>
                <a:sym typeface="IBM Plex Sans"/>
              </a:rPr>
              <a:t>The Central Surprise</a:t>
            </a:r>
            <a:endParaRPr b="0" i="0" sz="2200" u="none" cap="none" strike="noStrike"/>
          </a:p>
        </p:txBody>
      </p:sp>
      <p:sp>
        <p:nvSpPr>
          <p:cNvPr id="205" name="Google Shape;205;p39"/>
          <p:cNvSpPr/>
          <p:nvPr/>
        </p:nvSpPr>
        <p:spPr>
          <a:xfrm>
            <a:off x="9638943" y="2571036"/>
            <a:ext cx="4205100" cy="1451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Texture alone (M1) achieves </a:t>
            </a:r>
            <a:r>
              <a:rPr b="1" i="0" lang="en-US" sz="1750" u="none" cap="none" strike="noStrike">
                <a:solidFill>
                  <a:srgbClr val="FFBC8F"/>
                </a:solidFill>
                <a:latin typeface="Roboto"/>
                <a:ea typeface="Roboto"/>
                <a:cs typeface="Roboto"/>
                <a:sym typeface="Roboto"/>
              </a:rPr>
              <a:t>ρ = 0.886</a:t>
            </a:r>
            <a:r>
              <a:rPr b="0" i="0" lang="en-US" sz="1750" u="none" cap="none" strike="noStrike">
                <a:solidFill>
                  <a:srgbClr val="D4D4D1"/>
                </a:solidFill>
                <a:latin typeface="Roboto"/>
                <a:ea typeface="Roboto"/>
                <a:cs typeface="Roboto"/>
                <a:sym typeface="Roboto"/>
              </a:rPr>
              <a:t>, explaining ~88% of variance in human ratings. Geometry-only models peak at just </a:t>
            </a:r>
            <a:r>
              <a:rPr b="1" i="0" lang="en-US" sz="1750" u="none" cap="none" strike="noStrike">
                <a:solidFill>
                  <a:srgbClr val="D4D4D1"/>
                </a:solidFill>
                <a:latin typeface="Roboto"/>
                <a:ea typeface="Roboto"/>
                <a:cs typeface="Roboto"/>
                <a:sym typeface="Roboto"/>
              </a:rPr>
              <a:t>ρ = 0.757</a:t>
            </a:r>
            <a:r>
              <a:rPr b="0" i="0" lang="en-US" sz="1750" u="none" cap="none" strike="noStrike">
                <a:solidFill>
                  <a:srgbClr val="D4D4D1"/>
                </a:solidFill>
                <a:latin typeface="Roboto"/>
                <a:ea typeface="Roboto"/>
                <a:cs typeface="Roboto"/>
                <a:sym typeface="Roboto"/>
              </a:rPr>
              <a:t>.</a:t>
            </a:r>
            <a:endParaRPr b="0" i="0" sz="1750" u="none" cap="none" strike="noStrike"/>
          </a:p>
        </p:txBody>
      </p:sp>
      <p:sp>
        <p:nvSpPr>
          <p:cNvPr id="206" name="Google Shape;206;p39"/>
          <p:cNvSpPr/>
          <p:nvPr/>
        </p:nvSpPr>
        <p:spPr>
          <a:xfrm>
            <a:off x="9638943" y="4226719"/>
            <a:ext cx="42051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The gated fusion (M4) improves over M1 by only </a:t>
            </a:r>
            <a:r>
              <a:rPr b="1" i="0" lang="en-US" sz="1750" u="none" cap="none" strike="noStrike">
                <a:solidFill>
                  <a:srgbClr val="D4D4D1"/>
                </a:solidFill>
                <a:latin typeface="Roboto"/>
                <a:ea typeface="Roboto"/>
                <a:cs typeface="Roboto"/>
                <a:sym typeface="Roboto"/>
              </a:rPr>
              <a:t>+0.003</a:t>
            </a:r>
            <a:r>
              <a:rPr b="0" i="0" lang="en-US" sz="1750" u="none" cap="none" strike="noStrike">
                <a:solidFill>
                  <a:srgbClr val="D4D4D1"/>
                </a:solidFill>
                <a:latin typeface="Roboto"/>
                <a:ea typeface="Roboto"/>
                <a:cs typeface="Roboto"/>
                <a:sym typeface="Roboto"/>
              </a:rPr>
              <a:t> — a statistically marginal gain.</a:t>
            </a:r>
            <a:endParaRPr b="0" i="0" sz="1750" u="none" cap="none" strike="noStrike"/>
          </a:p>
        </p:txBody>
      </p:sp>
      <p:sp>
        <p:nvSpPr>
          <p:cNvPr id="207" name="Google Shape;207;p39"/>
          <p:cNvSpPr/>
          <p:nvPr/>
        </p:nvSpPr>
        <p:spPr>
          <a:xfrm>
            <a:off x="9638943" y="5570577"/>
            <a:ext cx="4205100" cy="1689600"/>
          </a:xfrm>
          <a:prstGeom prst="roundRect">
            <a:avLst>
              <a:gd fmla="val 2014" name="adj"/>
            </a:avLst>
          </a:prstGeom>
          <a:solidFill>
            <a:srgbClr val="4D1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8" name="Google Shape;208;p39"/>
          <p:cNvPicPr preferRelativeResize="0"/>
          <p:nvPr/>
        </p:nvPicPr>
        <p:blipFill rotWithShape="1">
          <a:blip r:embed="rId4">
            <a:alphaModFix/>
          </a:blip>
          <a:srcRect b="0" l="0" r="0" t="0"/>
          <a:stretch/>
        </p:blipFill>
        <p:spPr>
          <a:xfrm>
            <a:off x="9865757" y="5914668"/>
            <a:ext cx="283488" cy="226814"/>
          </a:xfrm>
          <a:prstGeom prst="rect">
            <a:avLst/>
          </a:prstGeom>
          <a:noFill/>
          <a:ln>
            <a:noFill/>
          </a:ln>
        </p:spPr>
      </p:pic>
      <p:sp>
        <p:nvSpPr>
          <p:cNvPr id="209" name="Google Shape;209;p39"/>
          <p:cNvSpPr/>
          <p:nvPr/>
        </p:nvSpPr>
        <p:spPr>
          <a:xfrm>
            <a:off x="10376059" y="5854065"/>
            <a:ext cx="32412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Roboto"/>
              <a:buNone/>
            </a:pPr>
            <a:r>
              <a:rPr b="0" i="0" lang="en-US" sz="1750" u="none" cap="none" strike="noStrike">
                <a:solidFill>
                  <a:srgbClr val="FFFFFF"/>
                </a:solidFill>
                <a:latin typeface="Roboto"/>
                <a:ea typeface="Roboto"/>
                <a:cs typeface="Roboto"/>
                <a:sym typeface="Roboto"/>
              </a:rPr>
              <a:t>Adding structure to a strong texture model yields </a:t>
            </a:r>
            <a:r>
              <a:rPr b="1" i="0" lang="en-US" sz="1750" u="none" cap="none" strike="noStrike">
                <a:solidFill>
                  <a:srgbClr val="FFFFFF"/>
                </a:solidFill>
                <a:latin typeface="Roboto"/>
                <a:ea typeface="Roboto"/>
                <a:cs typeface="Roboto"/>
                <a:sym typeface="Roboto"/>
              </a:rPr>
              <a:t>diminishing returns</a:t>
            </a:r>
            <a:r>
              <a:rPr b="0" i="0" lang="en-US" sz="1750" u="none" cap="none" strike="noStrike">
                <a:solidFill>
                  <a:srgbClr val="FFFFFF"/>
                </a:solidFill>
                <a:latin typeface="Roboto"/>
                <a:ea typeface="Roboto"/>
                <a:cs typeface="Roboto"/>
                <a:sym typeface="Roboto"/>
              </a:rPr>
              <a:t>.</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0"/>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0"/>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0"/>
          <p:cNvSpPr txBox="1"/>
          <p:nvPr/>
        </p:nvSpPr>
        <p:spPr>
          <a:xfrm>
            <a:off x="762000" y="571500"/>
            <a:ext cx="762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3700">
                <a:solidFill>
                  <a:srgbClr val="F3F3F2"/>
                </a:solidFill>
                <a:latin typeface="IBM Plex Sans"/>
                <a:ea typeface="IBM Plex Sans"/>
                <a:cs typeface="IBM Plex Sans"/>
                <a:sym typeface="IBM Plex Sans"/>
              </a:rPr>
              <a:t>Model Comparison: Image vs Landmark-Based Learning</a:t>
            </a:r>
            <a:endParaRPr b="0" sz="3700">
              <a:solidFill>
                <a:srgbClr val="F3F3F2"/>
              </a:solidFill>
              <a:latin typeface="IBM Plex Sans"/>
              <a:ea typeface="IBM Plex Sans"/>
              <a:cs typeface="IBM Plex Sans"/>
              <a:sym typeface="IBM Plex Sans"/>
            </a:endParaRPr>
          </a:p>
        </p:txBody>
      </p:sp>
      <p:grpSp>
        <p:nvGrpSpPr>
          <p:cNvPr id="218" name="Google Shape;218;p40"/>
          <p:cNvGrpSpPr/>
          <p:nvPr/>
        </p:nvGrpSpPr>
        <p:grpSpPr>
          <a:xfrm>
            <a:off x="762000" y="1905000"/>
            <a:ext cx="7905750" cy="1905000"/>
            <a:chOff x="762000" y="1905000"/>
            <a:chExt cx="7905750" cy="1905000"/>
          </a:xfrm>
        </p:grpSpPr>
        <p:sp>
          <p:nvSpPr>
            <p:cNvPr id="219" name="Google Shape;219;p40"/>
            <p:cNvSpPr/>
            <p:nvPr/>
          </p:nvSpPr>
          <p:spPr>
            <a:xfrm>
              <a:off x="762000" y="1905000"/>
              <a:ext cx="3810000" cy="1905000"/>
            </a:xfrm>
            <a:prstGeom prst="roundRect">
              <a:avLst>
                <a:gd fmla="val 6000" name="adj"/>
              </a:avLst>
            </a:prstGeom>
            <a:solidFill>
              <a:srgbClr val="2D3036"/>
            </a:solidFill>
            <a:ln cap="flat" cmpd="sng" w="9525">
              <a:solidFill>
                <a:srgbClr val="484B5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40"/>
            <p:cNvSpPr txBox="1"/>
            <p:nvPr/>
          </p:nvSpPr>
          <p:spPr>
            <a:xfrm>
              <a:off x="952500" y="2095500"/>
              <a:ext cx="34290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FFBC8F"/>
                  </a:solidFill>
                  <a:latin typeface="Roboto"/>
                  <a:ea typeface="Roboto"/>
                  <a:cs typeface="Roboto"/>
                  <a:sym typeface="Roboto"/>
                </a:rPr>
                <a:t>PERFORMANCE GAP</a:t>
              </a:r>
              <a:endParaRPr b="1" sz="1400">
                <a:solidFill>
                  <a:srgbClr val="FFBC8F"/>
                </a:solidFill>
                <a:latin typeface="Roboto"/>
                <a:ea typeface="Roboto"/>
                <a:cs typeface="Roboto"/>
                <a:sym typeface="Roboto"/>
              </a:endParaRPr>
            </a:p>
            <a:p>
              <a:pPr indent="0" lvl="0" marL="0" rtl="0" algn="l">
                <a:spcBef>
                  <a:spcPts val="1125"/>
                </a:spcBef>
                <a:spcAft>
                  <a:spcPts val="0"/>
                </a:spcAft>
                <a:buNone/>
              </a:pPr>
              <a:r>
                <a:rPr lang="en-US" sz="2000">
                  <a:solidFill>
                    <a:srgbClr val="D4D4D1"/>
                  </a:solidFill>
                  <a:latin typeface="Roboto"/>
                  <a:ea typeface="Roboto"/>
                  <a:cs typeface="Roboto"/>
                  <a:sym typeface="Roboto"/>
                </a:rPr>
                <a:t>corr(M1, GT) = </a:t>
              </a:r>
              <a:r>
                <a:rPr b="1" lang="en-US" sz="2000">
                  <a:solidFill>
                    <a:srgbClr val="FFFFFF"/>
                  </a:solidFill>
                  <a:latin typeface="Roboto"/>
                  <a:ea typeface="Roboto"/>
                  <a:cs typeface="Roboto"/>
                  <a:sym typeface="Roboto"/>
                </a:rPr>
                <a:t>0.89</a:t>
              </a:r>
              <a:endParaRPr sz="2000">
                <a:solidFill>
                  <a:srgbClr val="D4D4D1"/>
                </a:solidFill>
                <a:latin typeface="Roboto"/>
                <a:ea typeface="Roboto"/>
                <a:cs typeface="Roboto"/>
                <a:sym typeface="Roboto"/>
              </a:endParaRPr>
            </a:p>
            <a:p>
              <a:pPr indent="0" lvl="0" marL="0" rtl="0" algn="l">
                <a:spcBef>
                  <a:spcPts val="0"/>
                </a:spcBef>
                <a:spcAft>
                  <a:spcPts val="0"/>
                </a:spcAft>
                <a:buNone/>
              </a:pPr>
              <a:r>
                <a:rPr lang="en-US" sz="2000">
                  <a:solidFill>
                    <a:srgbClr val="D4D4D1"/>
                  </a:solidFill>
                  <a:latin typeface="Roboto"/>
                  <a:ea typeface="Roboto"/>
                  <a:cs typeface="Roboto"/>
                  <a:sym typeface="Roboto"/>
                </a:rPr>
                <a:t>corr(M3, GT) = </a:t>
              </a:r>
              <a:r>
                <a:rPr b="1" lang="en-US" sz="2000">
                  <a:solidFill>
                    <a:srgbClr val="FFFFFF"/>
                  </a:solidFill>
                  <a:latin typeface="Roboto"/>
                  <a:ea typeface="Roboto"/>
                  <a:cs typeface="Roboto"/>
                  <a:sym typeface="Roboto"/>
                </a:rPr>
                <a:t>0.76</a:t>
              </a:r>
              <a:endParaRPr sz="2000">
                <a:solidFill>
                  <a:srgbClr val="D4D4D1"/>
                </a:solidFill>
                <a:latin typeface="Roboto"/>
                <a:ea typeface="Roboto"/>
                <a:cs typeface="Roboto"/>
                <a:sym typeface="Roboto"/>
              </a:endParaRPr>
            </a:p>
            <a:p>
              <a:pPr indent="0" lvl="0" marL="0" rtl="0" algn="l">
                <a:spcBef>
                  <a:spcPts val="1125"/>
                </a:spcBef>
                <a:spcAft>
                  <a:spcPts val="0"/>
                </a:spcAft>
                <a:buNone/>
              </a:pPr>
              <a:r>
                <a:rPr lang="en-US" sz="1100">
                  <a:solidFill>
                    <a:srgbClr val="A0A0A0"/>
                  </a:solidFill>
                  <a:latin typeface="Roboto"/>
                  <a:ea typeface="Roboto"/>
                  <a:cs typeface="Roboto"/>
                  <a:sym typeface="Roboto"/>
                </a:rPr>
                <a:t>Image-based learning significantly outperforms landmarks alone.</a:t>
              </a:r>
              <a:endParaRPr sz="1100">
                <a:solidFill>
                  <a:srgbClr val="A0A0A0"/>
                </a:solidFill>
                <a:latin typeface="Roboto"/>
                <a:ea typeface="Roboto"/>
                <a:cs typeface="Roboto"/>
                <a:sym typeface="Roboto"/>
              </a:endParaRPr>
            </a:p>
          </p:txBody>
        </p:sp>
        <p:sp>
          <p:nvSpPr>
            <p:cNvPr id="221" name="Google Shape;221;p40"/>
            <p:cNvSpPr/>
            <p:nvPr/>
          </p:nvSpPr>
          <p:spPr>
            <a:xfrm>
              <a:off x="4857750" y="1905000"/>
              <a:ext cx="3810000" cy="1905000"/>
            </a:xfrm>
            <a:prstGeom prst="roundRect">
              <a:avLst>
                <a:gd fmla="val 6000" name="adj"/>
              </a:avLst>
            </a:prstGeom>
            <a:solidFill>
              <a:srgbClr val="2D3036"/>
            </a:solidFill>
            <a:ln cap="flat" cmpd="sng" w="9525">
              <a:solidFill>
                <a:srgbClr val="484B5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40"/>
            <p:cNvSpPr txBox="1"/>
            <p:nvPr/>
          </p:nvSpPr>
          <p:spPr>
            <a:xfrm>
              <a:off x="5048250" y="2095500"/>
              <a:ext cx="34290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FFBC8F"/>
                  </a:solidFill>
                  <a:latin typeface="Roboto"/>
                  <a:ea typeface="Roboto"/>
                  <a:cs typeface="Roboto"/>
                  <a:sym typeface="Roboto"/>
                </a:rPr>
                <a:t>GEOMETRY EMBEDDING</a:t>
              </a:r>
              <a:endParaRPr b="1" sz="1400">
                <a:solidFill>
                  <a:srgbClr val="FFBC8F"/>
                </a:solidFill>
                <a:latin typeface="Roboto"/>
                <a:ea typeface="Roboto"/>
                <a:cs typeface="Roboto"/>
                <a:sym typeface="Roboto"/>
              </a:endParaRPr>
            </a:p>
            <a:p>
              <a:pPr indent="0" lvl="0" marL="0" rtl="0" algn="l">
                <a:spcBef>
                  <a:spcPts val="1125"/>
                </a:spcBef>
                <a:spcAft>
                  <a:spcPts val="0"/>
                </a:spcAft>
                <a:buNone/>
              </a:pPr>
              <a:r>
                <a:rPr lang="en-US" sz="1800">
                  <a:solidFill>
                    <a:srgbClr val="D4D4D1"/>
                  </a:solidFill>
                  <a:latin typeface="Roboto"/>
                  <a:ea typeface="Roboto"/>
                  <a:cs typeface="Roboto"/>
                  <a:sym typeface="Roboto"/>
                </a:rPr>
                <a:t>corr(M1, M3) ≈ corr(M3, GT)</a:t>
              </a:r>
              <a:endParaRPr sz="1800">
                <a:solidFill>
                  <a:srgbClr val="D4D4D1"/>
                </a:solidFill>
                <a:latin typeface="Roboto"/>
                <a:ea typeface="Roboto"/>
                <a:cs typeface="Roboto"/>
                <a:sym typeface="Roboto"/>
              </a:endParaRPr>
            </a:p>
            <a:p>
              <a:pPr indent="0" lvl="0" marL="0" rtl="0" algn="l">
                <a:spcBef>
                  <a:spcPts val="1125"/>
                </a:spcBef>
                <a:spcAft>
                  <a:spcPts val="0"/>
                </a:spcAft>
                <a:buNone/>
              </a:pPr>
              <a:r>
                <a:rPr lang="en-US" sz="1100">
                  <a:solidFill>
                    <a:srgbClr val="A0A0A0"/>
                  </a:solidFill>
                  <a:latin typeface="Roboto"/>
                  <a:ea typeface="Roboto"/>
                  <a:cs typeface="Roboto"/>
                  <a:sym typeface="Roboto"/>
                </a:rPr>
                <a:t>Geometric information is already naturally embedded within the image model (M1).</a:t>
              </a:r>
              <a:endParaRPr sz="1100">
                <a:solidFill>
                  <a:srgbClr val="A0A0A0"/>
                </a:solidFill>
                <a:latin typeface="Roboto"/>
                <a:ea typeface="Roboto"/>
                <a:cs typeface="Roboto"/>
                <a:sym typeface="Roboto"/>
              </a:endParaRPr>
            </a:p>
          </p:txBody>
        </p:sp>
      </p:grpSp>
      <p:grpSp>
        <p:nvGrpSpPr>
          <p:cNvPr id="223" name="Google Shape;223;p40"/>
          <p:cNvGrpSpPr/>
          <p:nvPr/>
        </p:nvGrpSpPr>
        <p:grpSpPr>
          <a:xfrm>
            <a:off x="9239250" y="1905000"/>
            <a:ext cx="4629300" cy="3238500"/>
            <a:chOff x="9239250" y="1905000"/>
            <a:chExt cx="4629300" cy="3238500"/>
          </a:xfrm>
        </p:grpSpPr>
        <p:pic>
          <p:nvPicPr>
            <p:cNvPr id="224" name="Google Shape;224;p40"/>
            <p:cNvPicPr preferRelativeResize="0"/>
            <p:nvPr/>
          </p:nvPicPr>
          <p:blipFill rotWithShape="1">
            <a:blip r:embed="rId3">
              <a:alphaModFix/>
            </a:blip>
            <a:srcRect b="0" l="70" r="70" t="0"/>
            <a:stretch/>
          </p:blipFill>
          <p:spPr>
            <a:xfrm>
              <a:off x="9239250" y="1905000"/>
              <a:ext cx="4629300" cy="2781300"/>
            </a:xfrm>
            <a:prstGeom prst="rect">
              <a:avLst/>
            </a:prstGeom>
            <a:noFill/>
            <a:ln>
              <a:noFill/>
            </a:ln>
          </p:spPr>
        </p:pic>
        <p:sp>
          <p:nvSpPr>
            <p:cNvPr id="225" name="Google Shape;225;p40"/>
            <p:cNvSpPr txBox="1"/>
            <p:nvPr/>
          </p:nvSpPr>
          <p:spPr>
            <a:xfrm>
              <a:off x="9239250" y="4762500"/>
              <a:ext cx="46293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D4D4D1"/>
                  </a:solidFill>
                  <a:latin typeface="IBM Plex Sans"/>
                  <a:ea typeface="IBM Plex Sans"/>
                  <a:cs typeface="IBM Plex Sans"/>
                  <a:sym typeface="IBM Plex Sans"/>
                </a:rPr>
                <a:t>Figure:</a:t>
              </a:r>
              <a:r>
                <a:rPr lang="en-US" sz="1200">
                  <a:solidFill>
                    <a:srgbClr val="D4D4D1"/>
                  </a:solidFill>
                  <a:latin typeface="IBM Plex Sans"/>
                  <a:ea typeface="IBM Plex Sans"/>
                  <a:cs typeface="IBM Plex Sans"/>
                  <a:sym typeface="IBM Plex Sans"/>
                </a:rPr>
                <a:t> Beauty Prediction Performance (Pearson Correlation)</a:t>
              </a:r>
              <a:endParaRPr sz="1200">
                <a:solidFill>
                  <a:srgbClr val="D4D4D1"/>
                </a:solidFill>
                <a:latin typeface="IBM Plex Sans"/>
                <a:ea typeface="IBM Plex Sans"/>
                <a:cs typeface="IBM Plex Sans"/>
                <a:sym typeface="IBM Plex Sans"/>
              </a:endParaRPr>
            </a:p>
          </p:txBody>
        </p:sp>
      </p:grpSp>
      <p:grpSp>
        <p:nvGrpSpPr>
          <p:cNvPr id="226" name="Google Shape;226;p40"/>
          <p:cNvGrpSpPr/>
          <p:nvPr/>
        </p:nvGrpSpPr>
        <p:grpSpPr>
          <a:xfrm>
            <a:off x="762000" y="5143500"/>
            <a:ext cx="13106400" cy="2476500"/>
            <a:chOff x="762000" y="5143500"/>
            <a:chExt cx="13106400" cy="2476500"/>
          </a:xfrm>
        </p:grpSpPr>
        <p:sp>
          <p:nvSpPr>
            <p:cNvPr id="227" name="Google Shape;227;p40"/>
            <p:cNvSpPr/>
            <p:nvPr/>
          </p:nvSpPr>
          <p:spPr>
            <a:xfrm>
              <a:off x="762000" y="5143500"/>
              <a:ext cx="13106400" cy="2476500"/>
            </a:xfrm>
            <a:prstGeom prst="roundRect">
              <a:avLst>
                <a:gd fmla="val 4615" name="adj"/>
              </a:avLst>
            </a:prstGeom>
            <a:solidFill>
              <a:srgbClr val="2D3036"/>
            </a:solidFill>
            <a:ln cap="flat" cmpd="sng" w="9525">
              <a:solidFill>
                <a:srgbClr val="484B5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40"/>
            <p:cNvSpPr txBox="1"/>
            <p:nvPr/>
          </p:nvSpPr>
          <p:spPr>
            <a:xfrm>
              <a:off x="1047750" y="5286375"/>
              <a:ext cx="1905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FFFFFF"/>
                  </a:solidFill>
                  <a:latin typeface="Roboto"/>
                  <a:ea typeface="Roboto"/>
                  <a:cs typeface="Roboto"/>
                  <a:sym typeface="Roboto"/>
                </a:rPr>
                <a:t>Key Insights</a:t>
              </a:r>
              <a:endParaRPr b="1" sz="2000">
                <a:solidFill>
                  <a:srgbClr val="FFFFFF"/>
                </a:solidFill>
                <a:latin typeface="Roboto"/>
                <a:ea typeface="Roboto"/>
                <a:cs typeface="Roboto"/>
                <a:sym typeface="Roboto"/>
              </a:endParaRPr>
            </a:p>
          </p:txBody>
        </p:sp>
        <p:sp>
          <p:nvSpPr>
            <p:cNvPr id="229" name="Google Shape;229;p40"/>
            <p:cNvSpPr txBox="1"/>
            <p:nvPr/>
          </p:nvSpPr>
          <p:spPr>
            <a:xfrm>
              <a:off x="1047750" y="5762625"/>
              <a:ext cx="38100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FFBC8F"/>
                  </a:solidFill>
                  <a:latin typeface="Material Icons"/>
                  <a:ea typeface="Material Icons"/>
                  <a:cs typeface="Material Icons"/>
                  <a:sym typeface="Material Icons"/>
                </a:rPr>
                <a:t>foundation</a:t>
              </a:r>
              <a:endParaRPr sz="2800">
                <a:solidFill>
                  <a:srgbClr val="FFBC8F"/>
                </a:solidFill>
                <a:latin typeface="Material Icons"/>
                <a:ea typeface="Material Icons"/>
                <a:cs typeface="Material Icons"/>
                <a:sym typeface="Material Icons"/>
              </a:endParaRPr>
            </a:p>
            <a:p>
              <a:pPr indent="0" lvl="0" marL="0" rtl="0" algn="l">
                <a:spcBef>
                  <a:spcPts val="750"/>
                </a:spcBef>
                <a:spcAft>
                  <a:spcPts val="0"/>
                </a:spcAft>
                <a:buNone/>
              </a:pPr>
              <a:r>
                <a:rPr b="1" lang="en-US" sz="1800">
                  <a:solidFill>
                    <a:srgbClr val="FFFFFF"/>
                  </a:solidFill>
                  <a:latin typeface="Roboto"/>
                  <a:ea typeface="Roboto"/>
                  <a:cs typeface="Roboto"/>
                  <a:sym typeface="Roboto"/>
                </a:rPr>
                <a:t>Geometric Foundations</a:t>
              </a:r>
              <a:endParaRPr b="1" sz="1800">
                <a:solidFill>
                  <a:srgbClr val="FFFFFF"/>
                </a:solidFill>
                <a:latin typeface="Roboto"/>
                <a:ea typeface="Roboto"/>
                <a:cs typeface="Roboto"/>
                <a:sym typeface="Roboto"/>
              </a:endParaRPr>
            </a:p>
            <a:p>
              <a:pPr indent="0" lvl="0" marL="0" rtl="0" algn="l">
                <a:spcBef>
                  <a:spcPts val="600"/>
                </a:spcBef>
                <a:spcAft>
                  <a:spcPts val="0"/>
                </a:spcAft>
                <a:buNone/>
              </a:pPr>
              <a:r>
                <a:rPr lang="en-US" sz="1500">
                  <a:solidFill>
                    <a:srgbClr val="D4D4D1"/>
                  </a:solidFill>
                  <a:latin typeface="Roboto"/>
                  <a:ea typeface="Roboto"/>
                  <a:cs typeface="Roboto"/>
                  <a:sym typeface="Roboto"/>
                </a:rPr>
                <a:t>Landmarks capture the essential geometric structure, providing a baseline for facial analysis</a:t>
              </a:r>
              <a:r>
                <a:rPr lang="en-US" sz="1200">
                  <a:solidFill>
                    <a:srgbClr val="D4D4D1"/>
                  </a:solidFill>
                  <a:latin typeface="Roboto"/>
                  <a:ea typeface="Roboto"/>
                  <a:cs typeface="Roboto"/>
                  <a:sym typeface="Roboto"/>
                </a:rPr>
                <a:t>.</a:t>
              </a:r>
              <a:endParaRPr sz="1200">
                <a:solidFill>
                  <a:srgbClr val="D4D4D1"/>
                </a:solidFill>
                <a:latin typeface="Roboto"/>
                <a:ea typeface="Roboto"/>
                <a:cs typeface="Roboto"/>
                <a:sym typeface="Roboto"/>
              </a:endParaRPr>
            </a:p>
          </p:txBody>
        </p:sp>
        <p:sp>
          <p:nvSpPr>
            <p:cNvPr id="230" name="Google Shape;230;p40"/>
            <p:cNvSpPr txBox="1"/>
            <p:nvPr/>
          </p:nvSpPr>
          <p:spPr>
            <a:xfrm>
              <a:off x="5334000" y="5762625"/>
              <a:ext cx="38100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FFBC8F"/>
                  </a:solidFill>
                  <a:latin typeface="Material Icons"/>
                  <a:ea typeface="Material Icons"/>
                  <a:cs typeface="Material Icons"/>
                  <a:sym typeface="Material Icons"/>
                </a:rPr>
                <a:t>visibility</a:t>
              </a:r>
              <a:endParaRPr sz="2800">
                <a:solidFill>
                  <a:srgbClr val="FFBC8F"/>
                </a:solidFill>
                <a:latin typeface="Material Icons"/>
                <a:ea typeface="Material Icons"/>
                <a:cs typeface="Material Icons"/>
                <a:sym typeface="Material Icons"/>
              </a:endParaRPr>
            </a:p>
            <a:p>
              <a:pPr indent="0" lvl="0" marL="0" rtl="0" algn="l">
                <a:spcBef>
                  <a:spcPts val="750"/>
                </a:spcBef>
                <a:spcAft>
                  <a:spcPts val="0"/>
                </a:spcAft>
                <a:buNone/>
              </a:pPr>
              <a:r>
                <a:rPr b="1" lang="en-US" sz="1800">
                  <a:solidFill>
                    <a:srgbClr val="FFFFFF"/>
                  </a:solidFill>
                  <a:latin typeface="Roboto"/>
                  <a:ea typeface="Roboto"/>
                  <a:cs typeface="Roboto"/>
                  <a:sym typeface="Roboto"/>
                </a:rPr>
                <a:t>The "Visual Plus"</a:t>
              </a:r>
              <a:endParaRPr b="1" sz="1800">
                <a:solidFill>
                  <a:srgbClr val="FFFFFF"/>
                </a:solidFill>
                <a:latin typeface="Roboto"/>
                <a:ea typeface="Roboto"/>
                <a:cs typeface="Roboto"/>
                <a:sym typeface="Roboto"/>
              </a:endParaRPr>
            </a:p>
            <a:p>
              <a:pPr indent="0" lvl="0" marL="0" rtl="0" algn="l">
                <a:spcBef>
                  <a:spcPts val="600"/>
                </a:spcBef>
                <a:spcAft>
                  <a:spcPts val="0"/>
                </a:spcAft>
                <a:buNone/>
              </a:pPr>
              <a:r>
                <a:rPr lang="en-US" sz="1500">
                  <a:solidFill>
                    <a:srgbClr val="D4D4D1"/>
                  </a:solidFill>
                  <a:latin typeface="Roboto"/>
                  <a:ea typeface="Roboto"/>
                  <a:cs typeface="Roboto"/>
                  <a:sym typeface="Roboto"/>
                </a:rPr>
                <a:t>Image models learn geometry PLUS visual cues like texture, lighting, and fine expressions.</a:t>
              </a:r>
              <a:endParaRPr sz="1500">
                <a:solidFill>
                  <a:srgbClr val="D4D4D1"/>
                </a:solidFill>
                <a:latin typeface="Roboto"/>
                <a:ea typeface="Roboto"/>
                <a:cs typeface="Roboto"/>
                <a:sym typeface="Roboto"/>
              </a:endParaRPr>
            </a:p>
          </p:txBody>
        </p:sp>
        <p:sp>
          <p:nvSpPr>
            <p:cNvPr id="231" name="Google Shape;231;p40"/>
            <p:cNvSpPr txBox="1"/>
            <p:nvPr/>
          </p:nvSpPr>
          <p:spPr>
            <a:xfrm>
              <a:off x="9620250" y="5762625"/>
              <a:ext cx="38100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FFBC8F"/>
                  </a:solidFill>
                  <a:latin typeface="Material Icons"/>
                  <a:ea typeface="Material Icons"/>
                  <a:cs typeface="Material Icons"/>
                  <a:sym typeface="Material Icons"/>
                </a:rPr>
                <a:t>trending_up</a:t>
              </a:r>
              <a:endParaRPr sz="2800">
                <a:solidFill>
                  <a:srgbClr val="FFBC8F"/>
                </a:solidFill>
                <a:latin typeface="Material Icons"/>
                <a:ea typeface="Material Icons"/>
                <a:cs typeface="Material Icons"/>
                <a:sym typeface="Material Icons"/>
              </a:endParaRPr>
            </a:p>
            <a:p>
              <a:pPr indent="0" lvl="0" marL="0" rtl="0" algn="l">
                <a:spcBef>
                  <a:spcPts val="750"/>
                </a:spcBef>
                <a:spcAft>
                  <a:spcPts val="0"/>
                </a:spcAft>
                <a:buNone/>
              </a:pPr>
              <a:r>
                <a:rPr b="1" lang="en-US" sz="1800">
                  <a:solidFill>
                    <a:srgbClr val="FFFFFF"/>
                  </a:solidFill>
                  <a:latin typeface="Roboto"/>
                  <a:ea typeface="Roboto"/>
                  <a:cs typeface="Roboto"/>
                  <a:sym typeface="Roboto"/>
                </a:rPr>
                <a:t>Appearance Dominance</a:t>
              </a:r>
              <a:endParaRPr b="1" sz="1800">
                <a:solidFill>
                  <a:srgbClr val="FFFFFF"/>
                </a:solidFill>
                <a:latin typeface="Roboto"/>
                <a:ea typeface="Roboto"/>
                <a:cs typeface="Roboto"/>
                <a:sym typeface="Roboto"/>
              </a:endParaRPr>
            </a:p>
            <a:p>
              <a:pPr indent="0" lvl="0" marL="0" rtl="0" algn="l">
                <a:spcBef>
                  <a:spcPts val="600"/>
                </a:spcBef>
                <a:spcAft>
                  <a:spcPts val="0"/>
                </a:spcAft>
                <a:buNone/>
              </a:pPr>
              <a:r>
                <a:rPr lang="en-US" sz="1500">
                  <a:solidFill>
                    <a:srgbClr val="D4D4D1"/>
                  </a:solidFill>
                  <a:latin typeface="Roboto"/>
                  <a:ea typeface="Roboto"/>
                  <a:cs typeface="Roboto"/>
                  <a:sym typeface="Roboto"/>
                </a:rPr>
                <a:t>Appearance features provide the most significant gain, accounting for the 13-point correlation lead.</a:t>
              </a:r>
              <a:endParaRPr sz="1500">
                <a:solidFill>
                  <a:srgbClr val="D4D4D1"/>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sp>
        <p:nvSpPr>
          <p:cNvPr id="237" name="Google Shape;237;p41"/>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1"/>
          <p:cNvSpPr/>
          <p:nvPr/>
        </p:nvSpPr>
        <p:spPr>
          <a:xfrm>
            <a:off x="762000" y="2286000"/>
            <a:ext cx="4048200" cy="4000500"/>
          </a:xfrm>
          <a:prstGeom prst="roundRect">
            <a:avLst>
              <a:gd fmla="val 2857" name="adj"/>
            </a:avLst>
          </a:prstGeom>
          <a:solidFill>
            <a:srgbClr val="2D3036"/>
          </a:solidFill>
          <a:ln cap="flat" cmpd="sng" w="9525">
            <a:solidFill>
              <a:srgbClr val="484B5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41"/>
          <p:cNvSpPr/>
          <p:nvPr/>
        </p:nvSpPr>
        <p:spPr>
          <a:xfrm>
            <a:off x="762000" y="2286000"/>
            <a:ext cx="76200" cy="4000500"/>
          </a:xfrm>
          <a:prstGeom prst="roundRect">
            <a:avLst>
              <a:gd fmla="val 50000" name="adj"/>
            </a:avLst>
          </a:prstGeom>
          <a:solidFill>
            <a:srgbClr val="FFBC8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41"/>
          <p:cNvSpPr/>
          <p:nvPr/>
        </p:nvSpPr>
        <p:spPr>
          <a:xfrm>
            <a:off x="5286375" y="2286000"/>
            <a:ext cx="4048200" cy="4000500"/>
          </a:xfrm>
          <a:prstGeom prst="roundRect">
            <a:avLst>
              <a:gd fmla="val 2857" name="adj"/>
            </a:avLst>
          </a:prstGeom>
          <a:solidFill>
            <a:srgbClr val="2D3036"/>
          </a:solidFill>
          <a:ln cap="flat" cmpd="sng" w="9525">
            <a:solidFill>
              <a:srgbClr val="484B5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41"/>
          <p:cNvSpPr/>
          <p:nvPr/>
        </p:nvSpPr>
        <p:spPr>
          <a:xfrm>
            <a:off x="5286375" y="2286000"/>
            <a:ext cx="76200" cy="4000500"/>
          </a:xfrm>
          <a:prstGeom prst="roundRect">
            <a:avLst>
              <a:gd fmla="val 50000" name="adj"/>
            </a:avLst>
          </a:prstGeom>
          <a:solidFill>
            <a:srgbClr val="FFBC8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41"/>
          <p:cNvSpPr/>
          <p:nvPr/>
        </p:nvSpPr>
        <p:spPr>
          <a:xfrm>
            <a:off x="9810750" y="2286000"/>
            <a:ext cx="4048200" cy="4000500"/>
          </a:xfrm>
          <a:prstGeom prst="roundRect">
            <a:avLst>
              <a:gd fmla="val 2857" name="adj"/>
            </a:avLst>
          </a:prstGeom>
          <a:solidFill>
            <a:srgbClr val="2D3036"/>
          </a:solidFill>
          <a:ln cap="flat" cmpd="sng" w="9525">
            <a:solidFill>
              <a:srgbClr val="484B5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41"/>
          <p:cNvSpPr/>
          <p:nvPr/>
        </p:nvSpPr>
        <p:spPr>
          <a:xfrm>
            <a:off x="9810750" y="2286000"/>
            <a:ext cx="76200" cy="4000500"/>
          </a:xfrm>
          <a:prstGeom prst="roundRect">
            <a:avLst>
              <a:gd fmla="val 50000" name="adj"/>
            </a:avLst>
          </a:prstGeom>
          <a:solidFill>
            <a:srgbClr val="FFBC8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41"/>
          <p:cNvSpPr/>
          <p:nvPr/>
        </p:nvSpPr>
        <p:spPr>
          <a:xfrm>
            <a:off x="762000" y="571500"/>
            <a:ext cx="131064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4500">
                <a:solidFill>
                  <a:srgbClr val="F3F3F2"/>
                </a:solidFill>
                <a:latin typeface="IBM Plex Sans"/>
                <a:ea typeface="IBM Plex Sans"/>
                <a:cs typeface="IBM Plex Sans"/>
                <a:sym typeface="IBM Plex Sans"/>
              </a:rPr>
              <a:t>What the Gating Network Reveals</a:t>
            </a:r>
            <a:endParaRPr b="0" sz="4500">
              <a:solidFill>
                <a:srgbClr val="F3F3F2"/>
              </a:solidFill>
              <a:latin typeface="IBM Plex Sans"/>
              <a:ea typeface="IBM Plex Sans"/>
              <a:cs typeface="IBM Plex Sans"/>
              <a:sym typeface="IBM Plex Sans"/>
            </a:endParaRPr>
          </a:p>
        </p:txBody>
      </p:sp>
      <p:sp>
        <p:nvSpPr>
          <p:cNvPr id="245" name="Google Shape;245;p41"/>
          <p:cNvSpPr/>
          <p:nvPr/>
        </p:nvSpPr>
        <p:spPr>
          <a:xfrm>
            <a:off x="952500" y="2571750"/>
            <a:ext cx="36672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4650">
                <a:solidFill>
                  <a:srgbClr val="FFBC8F"/>
                </a:solidFill>
                <a:latin typeface="IBM Plex Sans"/>
                <a:ea typeface="IBM Plex Sans"/>
                <a:cs typeface="IBM Plex Sans"/>
                <a:sym typeface="IBM Plex Sans"/>
              </a:rPr>
              <a:t>62%</a:t>
            </a:r>
            <a:endParaRPr b="0" sz="4650">
              <a:solidFill>
                <a:srgbClr val="FFBC8F"/>
              </a:solidFill>
              <a:latin typeface="IBM Plex Sans"/>
              <a:ea typeface="IBM Plex Sans"/>
              <a:cs typeface="IBM Plex Sans"/>
              <a:sym typeface="IBM Plex Sans"/>
            </a:endParaRPr>
          </a:p>
        </p:txBody>
      </p:sp>
      <p:sp>
        <p:nvSpPr>
          <p:cNvPr id="246" name="Google Shape;246;p41"/>
          <p:cNvSpPr/>
          <p:nvPr/>
        </p:nvSpPr>
        <p:spPr>
          <a:xfrm>
            <a:off x="952500" y="3429000"/>
            <a:ext cx="36672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F3F3F2"/>
                </a:solidFill>
                <a:latin typeface="IBM Plex Sans"/>
                <a:ea typeface="IBM Plex Sans"/>
                <a:cs typeface="IBM Plex Sans"/>
                <a:sym typeface="IBM Plex Sans"/>
              </a:rPr>
              <a:t>Texture Dominant</a:t>
            </a:r>
            <a:endParaRPr b="1" sz="2200">
              <a:solidFill>
                <a:srgbClr val="F3F3F2"/>
              </a:solidFill>
              <a:latin typeface="IBM Plex Sans"/>
              <a:ea typeface="IBM Plex Sans"/>
              <a:cs typeface="IBM Plex Sans"/>
              <a:sym typeface="IBM Plex Sans"/>
            </a:endParaRPr>
          </a:p>
        </p:txBody>
      </p:sp>
      <p:sp>
        <p:nvSpPr>
          <p:cNvPr id="247" name="Google Shape;247;p41"/>
          <p:cNvSpPr/>
          <p:nvPr/>
        </p:nvSpPr>
        <p:spPr>
          <a:xfrm>
            <a:off x="952500" y="4000500"/>
            <a:ext cx="3667200" cy="1905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D4D4D1"/>
                </a:solidFill>
                <a:latin typeface="Roboto"/>
                <a:ea typeface="Roboto"/>
                <a:cs typeface="Roboto"/>
                <a:sym typeface="Roboto"/>
              </a:rPr>
              <a:t>β &lt; 0.5 — geometry contributes less than 50%, often near zero. Texture completely dominates the prediction.</a:t>
            </a:r>
            <a:endParaRPr b="0" sz="1800">
              <a:solidFill>
                <a:srgbClr val="D4D4D1"/>
              </a:solidFill>
              <a:latin typeface="Roboto"/>
              <a:ea typeface="Roboto"/>
              <a:cs typeface="Roboto"/>
              <a:sym typeface="Roboto"/>
            </a:endParaRPr>
          </a:p>
        </p:txBody>
      </p:sp>
      <p:sp>
        <p:nvSpPr>
          <p:cNvPr id="248" name="Google Shape;248;p41"/>
          <p:cNvSpPr/>
          <p:nvPr/>
        </p:nvSpPr>
        <p:spPr>
          <a:xfrm>
            <a:off x="5476875" y="2571750"/>
            <a:ext cx="36672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4650">
                <a:solidFill>
                  <a:srgbClr val="FFBC8F"/>
                </a:solidFill>
                <a:latin typeface="IBM Plex Sans"/>
                <a:ea typeface="IBM Plex Sans"/>
                <a:cs typeface="IBM Plex Sans"/>
                <a:sym typeface="IBM Plex Sans"/>
              </a:rPr>
              <a:t>38%</a:t>
            </a:r>
            <a:endParaRPr b="0" sz="4650">
              <a:solidFill>
                <a:srgbClr val="FFBC8F"/>
              </a:solidFill>
              <a:latin typeface="IBM Plex Sans"/>
              <a:ea typeface="IBM Plex Sans"/>
              <a:cs typeface="IBM Plex Sans"/>
              <a:sym typeface="IBM Plex Sans"/>
            </a:endParaRPr>
          </a:p>
        </p:txBody>
      </p:sp>
      <p:sp>
        <p:nvSpPr>
          <p:cNvPr id="249" name="Google Shape;249;p41"/>
          <p:cNvSpPr/>
          <p:nvPr/>
        </p:nvSpPr>
        <p:spPr>
          <a:xfrm>
            <a:off x="5476875" y="3429000"/>
            <a:ext cx="36672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F3F3F2"/>
                </a:solidFill>
                <a:latin typeface="IBM Plex Sans"/>
                <a:ea typeface="IBM Plex Sans"/>
                <a:cs typeface="IBM Plex Sans"/>
                <a:sym typeface="IBM Plex Sans"/>
              </a:rPr>
              <a:t>Geometry Engaged</a:t>
            </a:r>
            <a:endParaRPr b="1" sz="2200">
              <a:solidFill>
                <a:srgbClr val="F3F3F2"/>
              </a:solidFill>
              <a:latin typeface="IBM Plex Sans"/>
              <a:ea typeface="IBM Plex Sans"/>
              <a:cs typeface="IBM Plex Sans"/>
              <a:sym typeface="IBM Plex Sans"/>
            </a:endParaRPr>
          </a:p>
        </p:txBody>
      </p:sp>
      <p:sp>
        <p:nvSpPr>
          <p:cNvPr id="250" name="Google Shape;250;p41"/>
          <p:cNvSpPr/>
          <p:nvPr/>
        </p:nvSpPr>
        <p:spPr>
          <a:xfrm>
            <a:off x="5476875" y="4000500"/>
            <a:ext cx="3667200" cy="1905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D4D4D1"/>
                </a:solidFill>
                <a:latin typeface="Roboto"/>
                <a:ea typeface="Roboto"/>
                <a:cs typeface="Roboto"/>
                <a:sym typeface="Roboto"/>
              </a:rPr>
              <a:t>β &gt; 0.5 — geometry is the primary predictor. Even so, texture retains α ≈ 0.3–0.4 contribution.</a:t>
            </a:r>
            <a:endParaRPr b="0" sz="1800">
              <a:solidFill>
                <a:srgbClr val="D4D4D1"/>
              </a:solidFill>
              <a:latin typeface="Roboto"/>
              <a:ea typeface="Roboto"/>
              <a:cs typeface="Roboto"/>
              <a:sym typeface="Roboto"/>
            </a:endParaRPr>
          </a:p>
        </p:txBody>
      </p:sp>
      <p:sp>
        <p:nvSpPr>
          <p:cNvPr id="251" name="Google Shape;251;p41"/>
          <p:cNvSpPr/>
          <p:nvPr/>
        </p:nvSpPr>
        <p:spPr>
          <a:xfrm>
            <a:off x="10001250" y="2571750"/>
            <a:ext cx="36672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4650">
                <a:solidFill>
                  <a:srgbClr val="FFBC8F"/>
                </a:solidFill>
                <a:latin typeface="IBM Plex Sans"/>
                <a:ea typeface="IBM Plex Sans"/>
                <a:cs typeface="IBM Plex Sans"/>
                <a:sym typeface="IBM Plex Sans"/>
              </a:rPr>
              <a:t>25%</a:t>
            </a:r>
            <a:endParaRPr b="0" sz="4650">
              <a:solidFill>
                <a:srgbClr val="FFBC8F"/>
              </a:solidFill>
              <a:latin typeface="IBM Plex Sans"/>
              <a:ea typeface="IBM Plex Sans"/>
              <a:cs typeface="IBM Plex Sans"/>
              <a:sym typeface="IBM Plex Sans"/>
            </a:endParaRPr>
          </a:p>
        </p:txBody>
      </p:sp>
      <p:sp>
        <p:nvSpPr>
          <p:cNvPr id="252" name="Google Shape;252;p41"/>
          <p:cNvSpPr/>
          <p:nvPr/>
        </p:nvSpPr>
        <p:spPr>
          <a:xfrm>
            <a:off x="10001250" y="3429000"/>
            <a:ext cx="36672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F3F3F2"/>
                </a:solidFill>
                <a:latin typeface="IBM Plex Sans"/>
                <a:ea typeface="IBM Plex Sans"/>
                <a:cs typeface="IBM Plex Sans"/>
                <a:sym typeface="IBM Plex Sans"/>
              </a:rPr>
              <a:t>Pure Geometry</a:t>
            </a:r>
            <a:endParaRPr b="1" sz="2200">
              <a:solidFill>
                <a:srgbClr val="F3F3F2"/>
              </a:solidFill>
              <a:latin typeface="IBM Plex Sans"/>
              <a:ea typeface="IBM Plex Sans"/>
              <a:cs typeface="IBM Plex Sans"/>
              <a:sym typeface="IBM Plex Sans"/>
            </a:endParaRPr>
          </a:p>
        </p:txBody>
      </p:sp>
      <p:sp>
        <p:nvSpPr>
          <p:cNvPr id="253" name="Google Shape;253;p41"/>
          <p:cNvSpPr/>
          <p:nvPr/>
        </p:nvSpPr>
        <p:spPr>
          <a:xfrm>
            <a:off x="10001250" y="4000500"/>
            <a:ext cx="3667200" cy="1905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D4D4D1"/>
                </a:solidFill>
                <a:latin typeface="Roboto"/>
                <a:ea typeface="Roboto"/>
                <a:cs typeface="Roboto"/>
                <a:sym typeface="Roboto"/>
              </a:rPr>
              <a:t>25% face relies on geometry alone. Texture is </a:t>
            </a:r>
            <a:r>
              <a:rPr b="0" i="1" lang="en-US" sz="1800">
                <a:solidFill>
                  <a:srgbClr val="D4D4D1"/>
                </a:solidFill>
                <a:latin typeface="Roboto"/>
                <a:ea typeface="Roboto"/>
                <a:cs typeface="Roboto"/>
                <a:sym typeface="Roboto"/>
              </a:rPr>
              <a:t>never</a:t>
            </a:r>
            <a:r>
              <a:rPr b="0" lang="en-US" sz="1800">
                <a:solidFill>
                  <a:srgbClr val="D4D4D1"/>
                </a:solidFill>
                <a:latin typeface="Roboto"/>
                <a:ea typeface="Roboto"/>
                <a:cs typeface="Roboto"/>
                <a:sym typeface="Roboto"/>
              </a:rPr>
              <a:t> fully suppressed — even in 22 % geometry-dominant cases.</a:t>
            </a:r>
            <a:endParaRPr b="0" sz="1800">
              <a:solidFill>
                <a:srgbClr val="D4D4D1"/>
              </a:solidFill>
              <a:latin typeface="Roboto"/>
              <a:ea typeface="Roboto"/>
              <a:cs typeface="Roboto"/>
              <a:sym typeface="Roboto"/>
            </a:endParaRPr>
          </a:p>
        </p:txBody>
      </p:sp>
      <p:sp>
        <p:nvSpPr>
          <p:cNvPr id="254" name="Google Shape;254;p41"/>
          <p:cNvSpPr/>
          <p:nvPr/>
        </p:nvSpPr>
        <p:spPr>
          <a:xfrm>
            <a:off x="762000" y="1809750"/>
            <a:ext cx="13106400" cy="19200"/>
          </a:xfrm>
          <a:prstGeom prst="rect">
            <a:avLst/>
          </a:prstGeom>
          <a:solidFill>
            <a:srgbClr val="484B5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2"/>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2"/>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2"/>
          <p:cNvSpPr/>
          <p:nvPr/>
        </p:nvSpPr>
        <p:spPr>
          <a:xfrm>
            <a:off x="1079183" y="554831"/>
            <a:ext cx="11471400" cy="564600"/>
          </a:xfrm>
          <a:prstGeom prst="rect">
            <a:avLst/>
          </a:prstGeom>
          <a:noFill/>
          <a:ln>
            <a:noFill/>
          </a:ln>
        </p:spPr>
        <p:txBody>
          <a:bodyPr anchorCtr="0" anchor="t" bIns="0" lIns="0" spcFirstLastPara="1" rIns="0" wrap="square" tIns="0">
            <a:noAutofit/>
          </a:bodyPr>
          <a:lstStyle/>
          <a:p>
            <a:pPr indent="0" lvl="0" marL="0" marR="0" rtl="0" algn="l">
              <a:lnSpc>
                <a:spcPct val="123943"/>
              </a:lnSpc>
              <a:spcBef>
                <a:spcPts val="0"/>
              </a:spcBef>
              <a:spcAft>
                <a:spcPts val="0"/>
              </a:spcAft>
              <a:buClr>
                <a:srgbClr val="F3F3F2"/>
              </a:buClr>
              <a:buSzPts val="3550"/>
              <a:buFont typeface="IBM Plex Sans"/>
              <a:buNone/>
            </a:pPr>
            <a:r>
              <a:rPr b="0" i="0" lang="en-US" sz="3550" u="none" cap="none" strike="noStrike">
                <a:solidFill>
                  <a:srgbClr val="F3F3F2"/>
                </a:solidFill>
                <a:latin typeface="IBM Plex Sans"/>
                <a:ea typeface="IBM Plex Sans"/>
                <a:cs typeface="IBM Plex Sans"/>
                <a:sym typeface="IBM Plex Sans"/>
              </a:rPr>
              <a:t>The Surprising Finding — Symmetry Is a Weak Predictor</a:t>
            </a:r>
            <a:endParaRPr b="0" i="0" sz="3550" u="none" cap="none" strike="noStrike"/>
          </a:p>
        </p:txBody>
      </p:sp>
      <p:pic>
        <p:nvPicPr>
          <p:cNvPr descr="preencoded.png" id="263" name="Google Shape;263;p42"/>
          <p:cNvPicPr preferRelativeResize="0"/>
          <p:nvPr/>
        </p:nvPicPr>
        <p:blipFill rotWithShape="1">
          <a:blip r:embed="rId3">
            <a:alphaModFix/>
          </a:blip>
          <a:srcRect b="0" l="0" r="0" t="0"/>
          <a:stretch/>
        </p:blipFill>
        <p:spPr>
          <a:xfrm>
            <a:off x="1079183" y="1497449"/>
            <a:ext cx="6015395" cy="6015395"/>
          </a:xfrm>
          <a:prstGeom prst="rect">
            <a:avLst/>
          </a:prstGeom>
          <a:noFill/>
          <a:ln>
            <a:noFill/>
          </a:ln>
        </p:spPr>
      </p:pic>
      <p:pic>
        <p:nvPicPr>
          <p:cNvPr descr="preencoded.png" id="264" name="Google Shape;264;p42"/>
          <p:cNvPicPr preferRelativeResize="0"/>
          <p:nvPr/>
        </p:nvPicPr>
        <p:blipFill rotWithShape="1">
          <a:blip r:embed="rId4">
            <a:alphaModFix/>
          </a:blip>
          <a:srcRect b="0" l="0" r="0" t="0"/>
          <a:stretch/>
        </p:blipFill>
        <p:spPr>
          <a:xfrm>
            <a:off x="1079183" y="1497449"/>
            <a:ext cx="6015395" cy="6015395"/>
          </a:xfrm>
          <a:prstGeom prst="rect">
            <a:avLst/>
          </a:prstGeom>
          <a:noFill/>
          <a:ln>
            <a:noFill/>
          </a:ln>
        </p:spPr>
      </p:pic>
      <p:sp>
        <p:nvSpPr>
          <p:cNvPr id="265" name="Google Shape;265;p42"/>
          <p:cNvSpPr/>
          <p:nvPr/>
        </p:nvSpPr>
        <p:spPr>
          <a:xfrm>
            <a:off x="7543155" y="2662895"/>
            <a:ext cx="2259300" cy="282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F3F3F2"/>
              </a:buClr>
              <a:buSzPts val="1750"/>
              <a:buFont typeface="IBM Plex Sans"/>
              <a:buNone/>
            </a:pPr>
            <a:r>
              <a:rPr b="0" i="0" lang="en-US" sz="1750" u="none" cap="none" strike="noStrike">
                <a:solidFill>
                  <a:srgbClr val="F3F3F2"/>
                </a:solidFill>
                <a:latin typeface="IBM Plex Sans"/>
                <a:ea typeface="IBM Plex Sans"/>
                <a:cs typeface="IBM Plex Sans"/>
                <a:sym typeface="IBM Plex Sans"/>
              </a:rPr>
              <a:t>What This Tells Us</a:t>
            </a:r>
            <a:endParaRPr b="0" i="0" sz="1750" u="none" cap="none" strike="noStrike"/>
          </a:p>
        </p:txBody>
      </p:sp>
      <p:sp>
        <p:nvSpPr>
          <p:cNvPr id="266" name="Google Shape;266;p42"/>
          <p:cNvSpPr/>
          <p:nvPr/>
        </p:nvSpPr>
        <p:spPr>
          <a:xfrm>
            <a:off x="7543205" y="3289196"/>
            <a:ext cx="6015300" cy="7794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If golden ratios or symmetry were the primary drivers of beauty perception, geometry models would approach texture performance. They don't — they fall </a:t>
            </a:r>
            <a:r>
              <a:rPr b="1" i="0" lang="en-US" sz="1400" u="none" cap="none" strike="noStrike">
                <a:solidFill>
                  <a:srgbClr val="FFBC8F"/>
                </a:solidFill>
                <a:latin typeface="Roboto"/>
                <a:ea typeface="Roboto"/>
                <a:cs typeface="Roboto"/>
                <a:sym typeface="Roboto"/>
              </a:rPr>
              <a:t>13 correlation points short</a:t>
            </a:r>
            <a:r>
              <a:rPr b="0" i="0" lang="en-US" sz="1400" u="none" cap="none" strike="noStrike">
                <a:solidFill>
                  <a:srgbClr val="D4D4D1"/>
                </a:solidFill>
                <a:latin typeface="Roboto"/>
                <a:ea typeface="Roboto"/>
                <a:cs typeface="Roboto"/>
                <a:sym typeface="Roboto"/>
              </a:rPr>
              <a:t>.</a:t>
            </a:r>
            <a:endParaRPr b="0" i="0" sz="1400" u="none" cap="none" strike="noStrike"/>
          </a:p>
        </p:txBody>
      </p:sp>
      <p:sp>
        <p:nvSpPr>
          <p:cNvPr id="267" name="Google Shape;267;p42"/>
          <p:cNvSpPr/>
          <p:nvPr/>
        </p:nvSpPr>
        <p:spPr>
          <a:xfrm>
            <a:off x="7543155" y="4245356"/>
            <a:ext cx="6015300" cy="5196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Most of what humans call "beauty" appears to be </a:t>
            </a:r>
            <a:r>
              <a:rPr b="1" i="0" lang="en-US" sz="1400" u="none" cap="none" strike="noStrike">
                <a:solidFill>
                  <a:srgbClr val="D4D4D1"/>
                </a:solidFill>
                <a:latin typeface="Roboto"/>
                <a:ea typeface="Roboto"/>
                <a:cs typeface="Roboto"/>
                <a:sym typeface="Roboto"/>
              </a:rPr>
              <a:t>surface-level</a:t>
            </a:r>
            <a:r>
              <a:rPr b="0" i="0" lang="en-US" sz="1400" u="none" cap="none" strike="noStrike">
                <a:solidFill>
                  <a:srgbClr val="D4D4D1"/>
                </a:solidFill>
                <a:latin typeface="Roboto"/>
                <a:ea typeface="Roboto"/>
                <a:cs typeface="Roboto"/>
                <a:sym typeface="Roboto"/>
              </a:rPr>
              <a:t>: skin, lighting, expression, and grooming — not only hidden mathematical proportions.</a:t>
            </a:r>
            <a:endParaRPr b="0" i="0" sz="1400" u="none" cap="none" strike="noStrike"/>
          </a:p>
        </p:txBody>
      </p:sp>
      <p:sp>
        <p:nvSpPr>
          <p:cNvPr id="268" name="Google Shape;268;p42"/>
          <p:cNvSpPr/>
          <p:nvPr/>
        </p:nvSpPr>
        <p:spPr>
          <a:xfrm>
            <a:off x="7543205" y="5170170"/>
            <a:ext cx="6015300" cy="668700"/>
          </a:xfrm>
          <a:prstGeom prst="roundRect">
            <a:avLst>
              <a:gd fmla="val 4054" name="adj"/>
            </a:avLst>
          </a:prstGeom>
          <a:solidFill>
            <a:srgbClr val="4B3F0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9" name="Google Shape;269;p42"/>
          <p:cNvPicPr preferRelativeResize="0"/>
          <p:nvPr/>
        </p:nvPicPr>
        <p:blipFill rotWithShape="1">
          <a:blip r:embed="rId5">
            <a:alphaModFix/>
          </a:blip>
          <a:srcRect b="0" l="0" r="0" t="0"/>
          <a:stretch/>
        </p:blipFill>
        <p:spPr>
          <a:xfrm>
            <a:off x="7723942" y="5428298"/>
            <a:ext cx="225862" cy="180737"/>
          </a:xfrm>
          <a:prstGeom prst="rect">
            <a:avLst/>
          </a:prstGeom>
          <a:noFill/>
          <a:ln>
            <a:noFill/>
          </a:ln>
        </p:spPr>
      </p:pic>
      <p:sp>
        <p:nvSpPr>
          <p:cNvPr id="270" name="Google Shape;270;p42"/>
          <p:cNvSpPr/>
          <p:nvPr/>
        </p:nvSpPr>
        <p:spPr>
          <a:xfrm>
            <a:off x="8130540" y="5359241"/>
            <a:ext cx="5247300" cy="2598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FFFFFF"/>
              </a:buClr>
              <a:buSzPts val="1400"/>
              <a:buFont typeface="Roboto"/>
              <a:buNone/>
            </a:pPr>
            <a:r>
              <a:rPr b="0" i="1" lang="en-US" sz="1400" u="none" cap="none" strike="noStrike">
                <a:solidFill>
                  <a:srgbClr val="FFFFFF"/>
                </a:solidFill>
                <a:latin typeface="Roboto"/>
                <a:ea typeface="Roboto"/>
                <a:cs typeface="Roboto"/>
                <a:sym typeface="Roboto"/>
              </a:rPr>
              <a:t>But wait — could the dataset itself be the confound?</a:t>
            </a:r>
            <a:endParaRPr b="0" i="0" sz="14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3"/>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3"/>
          <p:cNvSpPr/>
          <p:nvPr/>
        </p:nvSpPr>
        <p:spPr>
          <a:xfrm>
            <a:off x="793790" y="1332905"/>
            <a:ext cx="10704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b="0" i="0" lang="en-US" sz="4450" u="none" cap="none" strike="noStrike">
                <a:solidFill>
                  <a:srgbClr val="F3F3F2"/>
                </a:solidFill>
                <a:latin typeface="IBM Plex Sans"/>
                <a:ea typeface="IBM Plex Sans"/>
                <a:cs typeface="IBM Plex Sans"/>
                <a:sym typeface="IBM Plex Sans"/>
              </a:rPr>
              <a:t>Data Biases — Why We Cannot Be Certain</a:t>
            </a:r>
            <a:endParaRPr b="0" i="0" sz="4450" u="none" cap="none" strike="noStrike"/>
          </a:p>
        </p:txBody>
      </p:sp>
      <p:sp>
        <p:nvSpPr>
          <p:cNvPr id="279" name="Google Shape;279;p43"/>
          <p:cNvSpPr/>
          <p:nvPr/>
        </p:nvSpPr>
        <p:spPr>
          <a:xfrm>
            <a:off x="793790" y="2495312"/>
            <a:ext cx="4196400" cy="2819400"/>
          </a:xfrm>
          <a:prstGeom prst="roundRect">
            <a:avLst>
              <a:gd fmla="val 5189" name="adj"/>
            </a:avLst>
          </a:prstGeom>
          <a:solidFill>
            <a:srgbClr val="292C32"/>
          </a:solidFill>
          <a:ln cap="flat" cmpd="sng" w="30475">
            <a:solidFill>
              <a:srgbClr val="616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3"/>
          <p:cNvSpPr/>
          <p:nvPr/>
        </p:nvSpPr>
        <p:spPr>
          <a:xfrm>
            <a:off x="763310" y="2495312"/>
            <a:ext cx="121800" cy="2819400"/>
          </a:xfrm>
          <a:prstGeom prst="roundRect">
            <a:avLst>
              <a:gd fmla="val 27907" name="adj"/>
            </a:avLst>
          </a:prstGeom>
          <a:solidFill>
            <a:srgbClr val="FFBC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3"/>
          <p:cNvSpPr/>
          <p:nvPr/>
        </p:nvSpPr>
        <p:spPr>
          <a:xfrm>
            <a:off x="1142524" y="2752606"/>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2200"/>
              <a:buFont typeface="IBM Plex Sans"/>
              <a:buNone/>
            </a:pPr>
            <a:r>
              <a:rPr b="0" i="0" lang="en-US" sz="2200" u="none" cap="none" strike="noStrike">
                <a:solidFill>
                  <a:srgbClr val="D4D4D1"/>
                </a:solidFill>
                <a:latin typeface="IBM Plex Sans"/>
                <a:ea typeface="IBM Plex Sans"/>
                <a:cs typeface="IBM Plex Sans"/>
                <a:sym typeface="IBM Plex Sans"/>
              </a:rPr>
              <a:t>Subjectivity in Labels</a:t>
            </a:r>
            <a:endParaRPr b="0" i="0" sz="2200" u="none" cap="none" strike="noStrike"/>
          </a:p>
        </p:txBody>
      </p:sp>
      <p:sp>
        <p:nvSpPr>
          <p:cNvPr id="282" name="Google Shape;282;p43"/>
          <p:cNvSpPr/>
          <p:nvPr/>
        </p:nvSpPr>
        <p:spPr>
          <a:xfrm>
            <a:off x="1142524" y="3243024"/>
            <a:ext cx="3590400" cy="1451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Ratings are averages over ~60 annotators. Cultural, religious, and individual biases remain embedded in the ground truth.</a:t>
            </a:r>
            <a:endParaRPr b="0" i="0" sz="1750" u="none" cap="none" strike="noStrike"/>
          </a:p>
        </p:txBody>
      </p:sp>
      <p:sp>
        <p:nvSpPr>
          <p:cNvPr id="283" name="Google Shape;283;p43"/>
          <p:cNvSpPr/>
          <p:nvPr/>
        </p:nvSpPr>
        <p:spPr>
          <a:xfrm>
            <a:off x="5216962" y="2495312"/>
            <a:ext cx="4196400" cy="2819400"/>
          </a:xfrm>
          <a:prstGeom prst="roundRect">
            <a:avLst>
              <a:gd fmla="val 5189" name="adj"/>
            </a:avLst>
          </a:prstGeom>
          <a:solidFill>
            <a:srgbClr val="292C32"/>
          </a:solidFill>
          <a:ln cap="flat" cmpd="sng" w="30475">
            <a:solidFill>
              <a:srgbClr val="616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3"/>
          <p:cNvSpPr/>
          <p:nvPr/>
        </p:nvSpPr>
        <p:spPr>
          <a:xfrm>
            <a:off x="5186482" y="2495312"/>
            <a:ext cx="121800" cy="2819400"/>
          </a:xfrm>
          <a:prstGeom prst="roundRect">
            <a:avLst>
              <a:gd fmla="val 27907" name="adj"/>
            </a:avLst>
          </a:prstGeom>
          <a:solidFill>
            <a:srgbClr val="FFBC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3"/>
          <p:cNvSpPr/>
          <p:nvPr/>
        </p:nvSpPr>
        <p:spPr>
          <a:xfrm>
            <a:off x="5565696" y="2752606"/>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2200"/>
              <a:buFont typeface="IBM Plex Sans"/>
              <a:buNone/>
            </a:pPr>
            <a:r>
              <a:rPr b="0" i="0" lang="en-US" sz="2200" u="none" cap="none" strike="noStrike">
                <a:solidFill>
                  <a:srgbClr val="D4D4D1"/>
                </a:solidFill>
                <a:latin typeface="IBM Plex Sans"/>
                <a:ea typeface="IBM Plex Sans"/>
                <a:cs typeface="IBM Plex Sans"/>
                <a:sym typeface="IBM Plex Sans"/>
              </a:rPr>
              <a:t>Camera Confounds</a:t>
            </a:r>
            <a:endParaRPr b="0" i="0" sz="2200" u="none" cap="none" strike="noStrike"/>
          </a:p>
        </p:txBody>
      </p:sp>
      <p:sp>
        <p:nvSpPr>
          <p:cNvPr id="286" name="Google Shape;286;p43"/>
          <p:cNvSpPr/>
          <p:nvPr/>
        </p:nvSpPr>
        <p:spPr>
          <a:xfrm>
            <a:off x="5565696" y="3243024"/>
            <a:ext cx="35904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Lighting, resolution, and pose variation affect </a:t>
            </a:r>
            <a:r>
              <a:rPr b="1" i="0" lang="en-US" sz="1750" u="none" cap="none" strike="noStrike">
                <a:solidFill>
                  <a:srgbClr val="D4D4D1"/>
                </a:solidFill>
                <a:latin typeface="Roboto"/>
                <a:ea typeface="Roboto"/>
                <a:cs typeface="Roboto"/>
                <a:sym typeface="Roboto"/>
              </a:rPr>
              <a:t>texture far more than geometry</a:t>
            </a:r>
            <a:r>
              <a:rPr b="0" i="0" lang="en-US" sz="1750" u="none" cap="none" strike="noStrike">
                <a:solidFill>
                  <a:srgbClr val="D4D4D1"/>
                </a:solidFill>
                <a:latin typeface="Roboto"/>
                <a:ea typeface="Roboto"/>
                <a:cs typeface="Roboto"/>
                <a:sym typeface="Roboto"/>
              </a:rPr>
              <a:t>. The model may have learned camera artifacts, not true aesthetics.</a:t>
            </a:r>
            <a:endParaRPr b="0" i="0" sz="1750" u="none" cap="none" strike="noStrike"/>
          </a:p>
        </p:txBody>
      </p:sp>
      <p:sp>
        <p:nvSpPr>
          <p:cNvPr id="287" name="Google Shape;287;p43"/>
          <p:cNvSpPr/>
          <p:nvPr/>
        </p:nvSpPr>
        <p:spPr>
          <a:xfrm>
            <a:off x="9640133" y="2495312"/>
            <a:ext cx="4196400" cy="2819400"/>
          </a:xfrm>
          <a:prstGeom prst="roundRect">
            <a:avLst>
              <a:gd fmla="val 5189" name="adj"/>
            </a:avLst>
          </a:prstGeom>
          <a:solidFill>
            <a:srgbClr val="292C32"/>
          </a:solidFill>
          <a:ln cap="flat" cmpd="sng" w="30475">
            <a:solidFill>
              <a:srgbClr val="616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3"/>
          <p:cNvSpPr/>
          <p:nvPr/>
        </p:nvSpPr>
        <p:spPr>
          <a:xfrm>
            <a:off x="9609653" y="2495312"/>
            <a:ext cx="121800" cy="2819400"/>
          </a:xfrm>
          <a:prstGeom prst="roundRect">
            <a:avLst>
              <a:gd fmla="val 27907" name="adj"/>
            </a:avLst>
          </a:prstGeom>
          <a:solidFill>
            <a:srgbClr val="FFBC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3"/>
          <p:cNvSpPr/>
          <p:nvPr/>
        </p:nvSpPr>
        <p:spPr>
          <a:xfrm>
            <a:off x="9988868" y="2752606"/>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2200"/>
              <a:buFont typeface="IBM Plex Sans"/>
              <a:buNone/>
            </a:pPr>
            <a:r>
              <a:rPr b="0" i="0" lang="en-US" sz="2200" u="none" cap="none" strike="noStrike">
                <a:solidFill>
                  <a:srgbClr val="D4D4D1"/>
                </a:solidFill>
                <a:latin typeface="IBM Plex Sans"/>
                <a:ea typeface="IBM Plex Sans"/>
                <a:cs typeface="IBM Plex Sans"/>
                <a:sym typeface="IBM Plex Sans"/>
              </a:rPr>
              <a:t>Expression &amp; Makeup</a:t>
            </a:r>
            <a:endParaRPr b="0" i="0" sz="2200" u="none" cap="none" strike="noStrike"/>
          </a:p>
        </p:txBody>
      </p:sp>
      <p:sp>
        <p:nvSpPr>
          <p:cNvPr id="290" name="Google Shape;290;p43"/>
          <p:cNvSpPr/>
          <p:nvPr/>
        </p:nvSpPr>
        <p:spPr>
          <a:xfrm>
            <a:off x="9988868" y="3243024"/>
            <a:ext cx="35904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Objectively attractive faces scored low due to poor image quality or unusual expression — introducing label noise that benefits texture models.</a:t>
            </a:r>
            <a:endParaRPr b="0" i="0" sz="1750" u="none" cap="none" strike="noStrike"/>
          </a:p>
        </p:txBody>
      </p:sp>
      <p:sp>
        <p:nvSpPr>
          <p:cNvPr id="291" name="Google Shape;291;p43"/>
          <p:cNvSpPr/>
          <p:nvPr/>
        </p:nvSpPr>
        <p:spPr>
          <a:xfrm>
            <a:off x="793790" y="5569982"/>
            <a:ext cx="13042800" cy="1326600"/>
          </a:xfrm>
          <a:prstGeom prst="roundRect">
            <a:avLst>
              <a:gd fmla="val 2565" name="adj"/>
            </a:avLst>
          </a:prstGeom>
          <a:solidFill>
            <a:srgbClr val="4507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2" name="Google Shape;292;p43"/>
          <p:cNvPicPr preferRelativeResize="0"/>
          <p:nvPr/>
        </p:nvPicPr>
        <p:blipFill rotWithShape="1">
          <a:blip r:embed="rId3">
            <a:alphaModFix/>
          </a:blip>
          <a:srcRect b="0" l="0" r="0" t="0"/>
          <a:stretch/>
        </p:blipFill>
        <p:spPr>
          <a:xfrm>
            <a:off x="1020604" y="5914073"/>
            <a:ext cx="283488" cy="226814"/>
          </a:xfrm>
          <a:prstGeom prst="rect">
            <a:avLst/>
          </a:prstGeom>
          <a:noFill/>
          <a:ln>
            <a:noFill/>
          </a:ln>
        </p:spPr>
      </p:pic>
      <p:sp>
        <p:nvSpPr>
          <p:cNvPr id="293" name="Google Shape;293;p43"/>
          <p:cNvSpPr/>
          <p:nvPr/>
        </p:nvSpPr>
        <p:spPr>
          <a:xfrm>
            <a:off x="1530906" y="5853470"/>
            <a:ext cx="120789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Roboto"/>
              <a:buNone/>
            </a:pPr>
            <a:r>
              <a:rPr b="0" i="0" lang="en-US" sz="1750" u="none" cap="none" strike="noStrike">
                <a:solidFill>
                  <a:srgbClr val="FFFFFF"/>
                </a:solidFill>
                <a:latin typeface="Roboto"/>
                <a:ea typeface="Roboto"/>
                <a:cs typeface="Roboto"/>
                <a:sym typeface="Roboto"/>
              </a:rPr>
              <a:t>The model may encode </a:t>
            </a:r>
            <a:r>
              <a:rPr b="1" i="0" lang="en-US" sz="1750" u="none" cap="none" strike="noStrike">
                <a:solidFill>
                  <a:srgbClr val="FFFFFF"/>
                </a:solidFill>
                <a:latin typeface="Roboto"/>
                <a:ea typeface="Roboto"/>
                <a:cs typeface="Roboto"/>
                <a:sym typeface="Roboto"/>
              </a:rPr>
              <a:t>photographic biases</a:t>
            </a:r>
            <a:r>
              <a:rPr b="0" i="0" lang="en-US" sz="1750" u="none" cap="none" strike="noStrike">
                <a:solidFill>
                  <a:srgbClr val="FFFFFF"/>
                </a:solidFill>
                <a:latin typeface="Roboto"/>
                <a:ea typeface="Roboto"/>
                <a:cs typeface="Roboto"/>
                <a:sym typeface="Roboto"/>
              </a:rPr>
              <a:t>, not universal aesthetic principles. Results should be interpreted with this caveat explicitly in mind.</a:t>
            </a:r>
            <a:endParaRPr b="0" i="0" sz="17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44"/>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4"/>
          <p:cNvSpPr/>
          <p:nvPr/>
        </p:nvSpPr>
        <p:spPr>
          <a:xfrm>
            <a:off x="793790" y="668893"/>
            <a:ext cx="76299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b="0" i="0" lang="en-US" sz="4450" u="none" cap="none" strike="noStrike">
                <a:solidFill>
                  <a:srgbClr val="F3F3F2"/>
                </a:solidFill>
                <a:latin typeface="IBM Plex Sans"/>
                <a:ea typeface="IBM Plex Sans"/>
                <a:cs typeface="IBM Plex Sans"/>
                <a:sym typeface="IBM Plex Sans"/>
              </a:rPr>
              <a:t>Reconciling the Contradiction</a:t>
            </a:r>
            <a:endParaRPr b="0" i="0" sz="4450" u="none" cap="none" strike="noStrike"/>
          </a:p>
        </p:txBody>
      </p:sp>
      <p:pic>
        <p:nvPicPr>
          <p:cNvPr descr="preencoded.png" id="302" name="Google Shape;302;p44"/>
          <p:cNvPicPr preferRelativeResize="0"/>
          <p:nvPr/>
        </p:nvPicPr>
        <p:blipFill rotWithShape="1">
          <a:blip r:embed="rId3">
            <a:alphaModFix/>
          </a:blip>
          <a:srcRect b="0" l="0" r="0" t="0"/>
          <a:stretch/>
        </p:blipFill>
        <p:spPr>
          <a:xfrm>
            <a:off x="793790" y="2278737"/>
            <a:ext cx="8284130" cy="3791187"/>
          </a:xfrm>
          <a:prstGeom prst="rect">
            <a:avLst/>
          </a:prstGeom>
          <a:noFill/>
          <a:ln>
            <a:noFill/>
          </a:ln>
        </p:spPr>
      </p:pic>
      <p:sp>
        <p:nvSpPr>
          <p:cNvPr id="303" name="Google Shape;303;p44"/>
          <p:cNvSpPr/>
          <p:nvPr/>
        </p:nvSpPr>
        <p:spPr>
          <a:xfrm>
            <a:off x="6861947" y="2644714"/>
            <a:ext cx="2019900" cy="4581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D4D4D1"/>
              </a:buClr>
              <a:buSzPts val="1400"/>
              <a:buFont typeface="IBM Plex Sans"/>
              <a:buNone/>
            </a:pPr>
            <a:r>
              <a:rPr b="0" i="0" lang="en-US" sz="1400" u="none" cap="none" strike="noStrike">
                <a:solidFill>
                  <a:srgbClr val="D4D4D1"/>
                </a:solidFill>
                <a:latin typeface="IBM Plex Sans"/>
                <a:ea typeface="IBM Plex Sans"/>
                <a:cs typeface="IBM Plex Sans"/>
                <a:sym typeface="IBM Plex Sans"/>
              </a:rPr>
              <a:t>True Aesthetics Unknown</a:t>
            </a:r>
            <a:endParaRPr b="0" i="0" sz="1400" u="none" cap="none" strike="noStrike"/>
          </a:p>
        </p:txBody>
      </p:sp>
      <p:sp>
        <p:nvSpPr>
          <p:cNvPr id="304" name="Google Shape;304;p44"/>
          <p:cNvSpPr/>
          <p:nvPr/>
        </p:nvSpPr>
        <p:spPr>
          <a:xfrm>
            <a:off x="6861947" y="3168004"/>
            <a:ext cx="2019900" cy="36660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D4D4D1"/>
              </a:buClr>
              <a:buSzPts val="1150"/>
              <a:buFont typeface="Roboto"/>
              <a:buNone/>
            </a:pPr>
            <a:r>
              <a:rPr b="0" i="0" lang="en-US" sz="1150" u="none" cap="none" strike="noStrike">
                <a:solidFill>
                  <a:srgbClr val="D4D4D1"/>
                </a:solidFill>
                <a:latin typeface="Roboto"/>
                <a:ea typeface="Roboto"/>
                <a:cs typeface="Roboto"/>
                <a:sym typeface="Roboto"/>
              </a:rPr>
              <a:t>Dataset biases remain unresolved</a:t>
            </a:r>
            <a:endParaRPr b="0" i="0" sz="1150" u="none" cap="none" strike="noStrike"/>
          </a:p>
        </p:txBody>
      </p:sp>
      <p:sp>
        <p:nvSpPr>
          <p:cNvPr id="305" name="Google Shape;305;p44"/>
          <p:cNvSpPr/>
          <p:nvPr/>
        </p:nvSpPr>
        <p:spPr>
          <a:xfrm>
            <a:off x="989698" y="3890836"/>
            <a:ext cx="1857000" cy="458100"/>
          </a:xfrm>
          <a:prstGeom prst="rect">
            <a:avLst/>
          </a:prstGeom>
          <a:noFill/>
          <a:ln>
            <a:noFill/>
          </a:ln>
        </p:spPr>
        <p:txBody>
          <a:bodyPr anchorCtr="0" anchor="t" bIns="0" lIns="0" spcFirstLastPara="1" rIns="0" wrap="square" tIns="0">
            <a:noAutofit/>
          </a:bodyPr>
          <a:lstStyle/>
          <a:p>
            <a:pPr indent="0" lvl="0" marL="0" marR="0" rtl="0" algn="r">
              <a:lnSpc>
                <a:spcPct val="128571"/>
              </a:lnSpc>
              <a:spcBef>
                <a:spcPts val="0"/>
              </a:spcBef>
              <a:spcAft>
                <a:spcPts val="0"/>
              </a:spcAft>
              <a:buClr>
                <a:srgbClr val="D4D4D1"/>
              </a:buClr>
              <a:buSzPts val="1400"/>
              <a:buFont typeface="IBM Plex Sans"/>
              <a:buNone/>
            </a:pPr>
            <a:r>
              <a:rPr b="0" i="0" lang="en-US" sz="1400" u="none" cap="none" strike="noStrike">
                <a:solidFill>
                  <a:srgbClr val="D4D4D1"/>
                </a:solidFill>
                <a:latin typeface="IBM Plex Sans"/>
                <a:ea typeface="IBM Plex Sans"/>
                <a:cs typeface="IBM Plex Sans"/>
                <a:sym typeface="IBM Plex Sans"/>
              </a:rPr>
              <a:t>Geometry Complements</a:t>
            </a:r>
            <a:endParaRPr b="0" i="0" sz="1400" u="none" cap="none" strike="noStrike"/>
          </a:p>
        </p:txBody>
      </p:sp>
      <p:sp>
        <p:nvSpPr>
          <p:cNvPr id="306" name="Google Shape;306;p44"/>
          <p:cNvSpPr/>
          <p:nvPr/>
        </p:nvSpPr>
        <p:spPr>
          <a:xfrm>
            <a:off x="989698" y="4414126"/>
            <a:ext cx="1857000" cy="366600"/>
          </a:xfrm>
          <a:prstGeom prst="rect">
            <a:avLst/>
          </a:prstGeom>
          <a:noFill/>
          <a:ln>
            <a:noFill/>
          </a:ln>
        </p:spPr>
        <p:txBody>
          <a:bodyPr anchorCtr="0" anchor="t" bIns="0" lIns="0" spcFirstLastPara="1" rIns="0" wrap="square" tIns="0">
            <a:noAutofit/>
          </a:bodyPr>
          <a:lstStyle/>
          <a:p>
            <a:pPr indent="0" lvl="0" marL="0" marR="0" rtl="0" algn="r">
              <a:lnSpc>
                <a:spcPct val="121739"/>
              </a:lnSpc>
              <a:spcBef>
                <a:spcPts val="0"/>
              </a:spcBef>
              <a:spcAft>
                <a:spcPts val="0"/>
              </a:spcAft>
              <a:buClr>
                <a:srgbClr val="D4D4D1"/>
              </a:buClr>
              <a:buSzPts val="1150"/>
              <a:buFont typeface="Roboto"/>
              <a:buNone/>
            </a:pPr>
            <a:r>
              <a:rPr b="0" i="0" lang="en-US" sz="1150" u="none" cap="none" strike="noStrike">
                <a:solidFill>
                  <a:srgbClr val="D4D4D1"/>
                </a:solidFill>
                <a:latin typeface="Roboto"/>
                <a:ea typeface="Roboto"/>
                <a:cs typeface="Roboto"/>
                <a:sym typeface="Roboto"/>
              </a:rPr>
              <a:t>Active in 20–38% of ambiguous faces</a:t>
            </a:r>
            <a:endParaRPr b="0" i="0" sz="1150" u="none" cap="none" strike="noStrike"/>
          </a:p>
        </p:txBody>
      </p:sp>
      <p:sp>
        <p:nvSpPr>
          <p:cNvPr id="307" name="Google Shape;307;p44"/>
          <p:cNvSpPr/>
          <p:nvPr/>
        </p:nvSpPr>
        <p:spPr>
          <a:xfrm>
            <a:off x="6861947" y="4648793"/>
            <a:ext cx="1841700" cy="229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D4D4D1"/>
              </a:buClr>
              <a:buSzPts val="1400"/>
              <a:buFont typeface="IBM Plex Sans"/>
              <a:buNone/>
            </a:pPr>
            <a:r>
              <a:rPr b="0" i="0" lang="en-US" sz="1400" u="none" cap="none" strike="noStrike">
                <a:solidFill>
                  <a:srgbClr val="D4D4D1"/>
                </a:solidFill>
                <a:latin typeface="IBM Plex Sans"/>
                <a:ea typeface="IBM Plex Sans"/>
                <a:cs typeface="IBM Plex Sans"/>
                <a:sym typeface="IBM Plex Sans"/>
              </a:rPr>
              <a:t>Texture Explains Most</a:t>
            </a:r>
            <a:endParaRPr b="0" i="0" sz="1400" u="none" cap="none" strike="noStrike"/>
          </a:p>
        </p:txBody>
      </p:sp>
      <p:sp>
        <p:nvSpPr>
          <p:cNvPr id="308" name="Google Shape;308;p44"/>
          <p:cNvSpPr/>
          <p:nvPr/>
        </p:nvSpPr>
        <p:spPr>
          <a:xfrm>
            <a:off x="6861947" y="4943015"/>
            <a:ext cx="2019900" cy="36660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D4D4D1"/>
              </a:buClr>
              <a:buSzPts val="1150"/>
              <a:buFont typeface="Roboto"/>
              <a:buNone/>
            </a:pPr>
            <a:r>
              <a:rPr b="0" i="0" lang="en-US" sz="1150" u="none" cap="none" strike="noStrike">
                <a:solidFill>
                  <a:srgbClr val="D4D4D1"/>
                </a:solidFill>
                <a:latin typeface="Roboto"/>
                <a:ea typeface="Roboto"/>
                <a:cs typeface="Roboto"/>
                <a:sym typeface="Roboto"/>
              </a:rPr>
              <a:t>ρ=0.886; ~88% variance explained</a:t>
            </a:r>
            <a:endParaRPr b="0" i="0" sz="1150" u="none" cap="none" strike="noStrike"/>
          </a:p>
        </p:txBody>
      </p:sp>
      <p:sp>
        <p:nvSpPr>
          <p:cNvPr id="309" name="Google Shape;309;p44"/>
          <p:cNvSpPr/>
          <p:nvPr/>
        </p:nvSpPr>
        <p:spPr>
          <a:xfrm>
            <a:off x="793790" y="6325076"/>
            <a:ext cx="82842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The scientific question remains open — but the model provides an </a:t>
            </a:r>
            <a:r>
              <a:rPr b="1" i="0" lang="en-US" sz="1750" u="none" cap="none" strike="noStrike">
                <a:solidFill>
                  <a:srgbClr val="D4D4D1"/>
                </a:solidFill>
                <a:latin typeface="Roboto"/>
                <a:ea typeface="Roboto"/>
                <a:cs typeface="Roboto"/>
                <a:sym typeface="Roboto"/>
              </a:rPr>
              <a:t>interpretable, data-driven lens</a:t>
            </a:r>
            <a:r>
              <a:rPr b="0" i="0" lang="en-US" sz="1750" u="none" cap="none" strike="noStrike">
                <a:solidFill>
                  <a:srgbClr val="D4D4D1"/>
                </a:solidFill>
                <a:latin typeface="Roboto"/>
                <a:ea typeface="Roboto"/>
                <a:cs typeface="Roboto"/>
                <a:sym typeface="Roboto"/>
              </a:rPr>
              <a:t> into the geometry-texture trade-off.</a:t>
            </a:r>
            <a:endParaRPr b="0" i="0" sz="1750" u="none" cap="none" strike="noStrike"/>
          </a:p>
        </p:txBody>
      </p:sp>
      <p:sp>
        <p:nvSpPr>
          <p:cNvPr id="310" name="Google Shape;310;p44"/>
          <p:cNvSpPr/>
          <p:nvPr/>
        </p:nvSpPr>
        <p:spPr>
          <a:xfrm>
            <a:off x="9638943" y="1944648"/>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2200"/>
              <a:buFont typeface="IBM Plex Sans"/>
              <a:buNone/>
            </a:pPr>
            <a:r>
              <a:rPr b="0" i="0" lang="en-US" sz="2200" u="none" cap="none" strike="noStrike">
                <a:solidFill>
                  <a:srgbClr val="F3F3F2"/>
                </a:solidFill>
                <a:latin typeface="IBM Plex Sans"/>
                <a:ea typeface="IBM Plex Sans"/>
                <a:cs typeface="IBM Plex Sans"/>
                <a:sym typeface="IBM Plex Sans"/>
              </a:rPr>
              <a:t>Our Interpretation</a:t>
            </a:r>
            <a:endParaRPr b="0" i="0" sz="2200" u="none" cap="none" strike="noStrike"/>
          </a:p>
        </p:txBody>
      </p:sp>
      <p:sp>
        <p:nvSpPr>
          <p:cNvPr id="311" name="Google Shape;311;p44"/>
          <p:cNvSpPr/>
          <p:nvPr/>
        </p:nvSpPr>
        <p:spPr>
          <a:xfrm>
            <a:off x="9638943" y="2525792"/>
            <a:ext cx="4205100" cy="49557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If beauty were purely symmetry-based, 3D landmarks would match image performance — they don't.</a:t>
            </a:r>
            <a:endParaRPr b="0" i="0" sz="1750" u="none" cap="none" strike="noStrike"/>
          </a:p>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If beauty were purely texture-based, gating would never activate geometry — but it does in 20–38% of faces.</a:t>
            </a:r>
            <a:endParaRPr b="0" i="0" sz="1750" u="none" cap="none" strike="noStrike"/>
          </a:p>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Geometry provides </a:t>
            </a:r>
            <a:r>
              <a:rPr b="1" i="0" lang="en-US" sz="1750" u="none" cap="none" strike="noStrike">
                <a:solidFill>
                  <a:srgbClr val="D4D4D1"/>
                </a:solidFill>
                <a:latin typeface="Roboto"/>
                <a:ea typeface="Roboto"/>
                <a:cs typeface="Roboto"/>
                <a:sym typeface="Roboto"/>
              </a:rPr>
              <a:t>complementary signals</a:t>
            </a:r>
            <a:r>
              <a:rPr b="0" i="0" lang="en-US" sz="1750" u="none" cap="none" strike="noStrike">
                <a:solidFill>
                  <a:srgbClr val="D4D4D1"/>
                </a:solidFill>
                <a:latin typeface="Roboto"/>
                <a:ea typeface="Roboto"/>
                <a:cs typeface="Roboto"/>
                <a:sym typeface="Roboto"/>
              </a:rPr>
              <a:t> when texture is ambiguous: bad lighting, extreme expression, unusual makeup.</a:t>
            </a:r>
            <a:endParaRPr b="0" i="0" sz="1750" u="none" cap="none" strike="noStrike"/>
          </a:p>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The "golden ratio" effect is likely a </a:t>
            </a:r>
            <a:r>
              <a:rPr b="1" i="0" lang="en-US" sz="1750" u="none" cap="none" strike="noStrike">
                <a:solidFill>
                  <a:srgbClr val="D4D4D1"/>
                </a:solidFill>
                <a:latin typeface="Roboto"/>
                <a:ea typeface="Roboto"/>
                <a:cs typeface="Roboto"/>
                <a:sym typeface="Roboto"/>
              </a:rPr>
              <a:t>secondary, not primary</a:t>
            </a:r>
            <a:r>
              <a:rPr b="0" i="0" lang="en-US" sz="1750" u="none" cap="none" strike="noStrike">
                <a:solidFill>
                  <a:srgbClr val="D4D4D1"/>
                </a:solidFill>
                <a:latin typeface="Roboto"/>
                <a:ea typeface="Roboto"/>
                <a:cs typeface="Roboto"/>
                <a:sym typeface="Roboto"/>
              </a:rPr>
              <a:t>, factor in human beauty perception.</a:t>
            </a:r>
            <a:endParaRPr b="0" i="0" sz="17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5"/>
          <p:cNvSpPr/>
          <p:nvPr/>
        </p:nvSpPr>
        <p:spPr>
          <a:xfrm>
            <a:off x="9144000" y="0"/>
            <a:ext cx="5486400" cy="8229600"/>
          </a:xfrm>
          <a:prstGeom prst="rect">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8" name="Google Shape;318;p45"/>
          <p:cNvPicPr preferRelativeResize="0"/>
          <p:nvPr/>
        </p:nvPicPr>
        <p:blipFill rotWithShape="1">
          <a:blip r:embed="rId3">
            <a:alphaModFix/>
          </a:blip>
          <a:srcRect b="0" l="0" r="0" t="0"/>
          <a:stretch/>
        </p:blipFill>
        <p:spPr>
          <a:xfrm>
            <a:off x="9241393" y="146090"/>
            <a:ext cx="5291614" cy="7937421"/>
          </a:xfrm>
          <a:prstGeom prst="rect">
            <a:avLst/>
          </a:prstGeom>
          <a:noFill/>
          <a:ln>
            <a:noFill/>
          </a:ln>
        </p:spPr>
      </p:pic>
      <p:sp>
        <p:nvSpPr>
          <p:cNvPr id="319" name="Google Shape;319;p45"/>
          <p:cNvSpPr/>
          <p:nvPr/>
        </p:nvSpPr>
        <p:spPr>
          <a:xfrm>
            <a:off x="682228" y="607338"/>
            <a:ext cx="4873228" cy="60912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3800"/>
              <a:buFont typeface="IBM Plex Sans"/>
              <a:buNone/>
            </a:pPr>
            <a:r>
              <a:rPr b="0" i="0" lang="en-US" sz="3800" u="none" cap="none" strike="noStrike">
                <a:solidFill>
                  <a:srgbClr val="F3F3F2"/>
                </a:solidFill>
                <a:latin typeface="IBM Plex Sans"/>
                <a:ea typeface="IBM Plex Sans"/>
                <a:cs typeface="IBM Plex Sans"/>
                <a:sym typeface="IBM Plex Sans"/>
              </a:rPr>
              <a:t>Take-Home Messages</a:t>
            </a:r>
            <a:endParaRPr b="0" i="0" sz="3800" u="none" cap="none" strike="noStrike"/>
          </a:p>
        </p:txBody>
      </p:sp>
      <p:sp>
        <p:nvSpPr>
          <p:cNvPr id="320" name="Google Shape;320;p45"/>
          <p:cNvSpPr/>
          <p:nvPr/>
        </p:nvSpPr>
        <p:spPr>
          <a:xfrm>
            <a:off x="682228" y="1467683"/>
            <a:ext cx="438507" cy="438507"/>
          </a:xfrm>
          <a:prstGeom prst="roundRect">
            <a:avLst>
              <a:gd fmla="val 6668"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5"/>
          <p:cNvSpPr/>
          <p:nvPr/>
        </p:nvSpPr>
        <p:spPr>
          <a:xfrm>
            <a:off x="755273" y="1504176"/>
            <a:ext cx="292298" cy="36540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4D4D1"/>
              </a:buClr>
              <a:buSzPts val="2300"/>
              <a:buFont typeface="IBM Plex Sans"/>
              <a:buNone/>
            </a:pPr>
            <a:r>
              <a:rPr b="0" i="0" lang="en-US" sz="2300" u="none" cap="none" strike="noStrike">
                <a:solidFill>
                  <a:srgbClr val="D4D4D1"/>
                </a:solidFill>
                <a:latin typeface="IBM Plex Sans"/>
                <a:ea typeface="IBM Plex Sans"/>
                <a:cs typeface="IBM Plex Sans"/>
                <a:sym typeface="IBM Plex Sans"/>
              </a:rPr>
              <a:t>1</a:t>
            </a:r>
            <a:endParaRPr b="0" i="0" sz="2300" u="none" cap="none" strike="noStrike"/>
          </a:p>
        </p:txBody>
      </p:sp>
      <p:sp>
        <p:nvSpPr>
          <p:cNvPr id="322" name="Google Shape;322;p45"/>
          <p:cNvSpPr/>
          <p:nvPr/>
        </p:nvSpPr>
        <p:spPr>
          <a:xfrm>
            <a:off x="1288137" y="1534597"/>
            <a:ext cx="2436614" cy="304562"/>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D4D4D1"/>
              </a:buClr>
              <a:buSzPts val="1900"/>
              <a:buFont typeface="IBM Plex Sans"/>
              <a:buNone/>
            </a:pPr>
            <a:r>
              <a:rPr b="0" i="0" lang="en-US" sz="1900" u="none" cap="none" strike="noStrike">
                <a:solidFill>
                  <a:srgbClr val="D4D4D1"/>
                </a:solidFill>
                <a:latin typeface="IBM Plex Sans"/>
                <a:ea typeface="IBM Plex Sans"/>
                <a:cs typeface="IBM Plex Sans"/>
                <a:sym typeface="IBM Plex Sans"/>
              </a:rPr>
              <a:t>Texture dominates</a:t>
            </a:r>
            <a:endParaRPr b="0" i="0" sz="1900" u="none" cap="none" strike="noStrike"/>
          </a:p>
        </p:txBody>
      </p:sp>
      <p:sp>
        <p:nvSpPr>
          <p:cNvPr id="323" name="Google Shape;323;p45"/>
          <p:cNvSpPr/>
          <p:nvPr/>
        </p:nvSpPr>
        <p:spPr>
          <a:xfrm>
            <a:off x="1288137" y="1939647"/>
            <a:ext cx="7173635" cy="57983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D4D4D1"/>
              </a:buClr>
              <a:buSzPts val="1500"/>
              <a:buFont typeface="Roboto"/>
              <a:buNone/>
            </a:pPr>
            <a:r>
              <a:rPr b="0" i="0" lang="en-US" sz="1500" u="none" cap="none" strike="noStrike">
                <a:solidFill>
                  <a:srgbClr val="D4D4D1"/>
                </a:solidFill>
                <a:latin typeface="Roboto"/>
                <a:ea typeface="Roboto"/>
                <a:cs typeface="Roboto"/>
                <a:sym typeface="Roboto"/>
              </a:rPr>
              <a:t>Skin, lighting, and grooming explain ~88% of variance. Geometric ratios alone are insufficient.</a:t>
            </a:r>
            <a:endParaRPr b="0" i="0" sz="1500" u="none" cap="none" strike="noStrike"/>
          </a:p>
        </p:txBody>
      </p:sp>
      <p:sp>
        <p:nvSpPr>
          <p:cNvPr id="324" name="Google Shape;324;p45"/>
          <p:cNvSpPr/>
          <p:nvPr/>
        </p:nvSpPr>
        <p:spPr>
          <a:xfrm>
            <a:off x="682228" y="2854404"/>
            <a:ext cx="438507" cy="438507"/>
          </a:xfrm>
          <a:prstGeom prst="roundRect">
            <a:avLst>
              <a:gd fmla="val 6668"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5"/>
          <p:cNvSpPr/>
          <p:nvPr/>
        </p:nvSpPr>
        <p:spPr>
          <a:xfrm>
            <a:off x="755273" y="2890897"/>
            <a:ext cx="292298" cy="36540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4D4D1"/>
              </a:buClr>
              <a:buSzPts val="2300"/>
              <a:buFont typeface="IBM Plex Sans"/>
              <a:buNone/>
            </a:pPr>
            <a:r>
              <a:rPr b="0" i="0" lang="en-US" sz="2300" u="none" cap="none" strike="noStrike">
                <a:solidFill>
                  <a:srgbClr val="D4D4D1"/>
                </a:solidFill>
                <a:latin typeface="IBM Plex Sans"/>
                <a:ea typeface="IBM Plex Sans"/>
                <a:cs typeface="IBM Plex Sans"/>
                <a:sym typeface="IBM Plex Sans"/>
              </a:rPr>
              <a:t>2</a:t>
            </a:r>
            <a:endParaRPr b="0" i="0" sz="2300" u="none" cap="none" strike="noStrike"/>
          </a:p>
        </p:txBody>
      </p:sp>
      <p:sp>
        <p:nvSpPr>
          <p:cNvPr id="326" name="Google Shape;326;p45"/>
          <p:cNvSpPr/>
          <p:nvPr/>
        </p:nvSpPr>
        <p:spPr>
          <a:xfrm>
            <a:off x="1288137" y="2921318"/>
            <a:ext cx="2471618" cy="304562"/>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D4D4D1"/>
              </a:buClr>
              <a:buSzPts val="1900"/>
              <a:buFont typeface="IBM Plex Sans"/>
              <a:buNone/>
            </a:pPr>
            <a:r>
              <a:rPr b="0" i="0" lang="en-US" sz="1900" u="none" cap="none" strike="noStrike">
                <a:solidFill>
                  <a:srgbClr val="D4D4D1"/>
                </a:solidFill>
                <a:latin typeface="IBM Plex Sans"/>
                <a:ea typeface="IBM Plex Sans"/>
                <a:cs typeface="IBM Plex Sans"/>
                <a:sym typeface="IBM Plex Sans"/>
              </a:rPr>
              <a:t>Adaptive gating works</a:t>
            </a:r>
            <a:endParaRPr b="0" i="0" sz="1900" u="none" cap="none" strike="noStrike"/>
          </a:p>
        </p:txBody>
      </p:sp>
      <p:sp>
        <p:nvSpPr>
          <p:cNvPr id="327" name="Google Shape;327;p45"/>
          <p:cNvSpPr/>
          <p:nvPr/>
        </p:nvSpPr>
        <p:spPr>
          <a:xfrm>
            <a:off x="1288137" y="3326368"/>
            <a:ext cx="7173635" cy="57983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D4D4D1"/>
              </a:buClr>
              <a:buSzPts val="1500"/>
              <a:buFont typeface="Roboto"/>
              <a:buNone/>
            </a:pPr>
            <a:r>
              <a:rPr b="0" i="0" lang="en-US" sz="1500" u="none" cap="none" strike="noStrike">
                <a:solidFill>
                  <a:srgbClr val="D4D4D1"/>
                </a:solidFill>
                <a:latin typeface="Roboto"/>
                <a:ea typeface="Roboto"/>
                <a:cs typeface="Roboto"/>
                <a:sym typeface="Roboto"/>
              </a:rPr>
              <a:t>The network successfully identifies the ~20–38% of faces where geometry provides meaningful complementary signal.</a:t>
            </a:r>
            <a:endParaRPr b="0" i="0" sz="1500" u="none" cap="none" strike="noStrike"/>
          </a:p>
        </p:txBody>
      </p:sp>
      <p:sp>
        <p:nvSpPr>
          <p:cNvPr id="328" name="Google Shape;328;p45"/>
          <p:cNvSpPr/>
          <p:nvPr/>
        </p:nvSpPr>
        <p:spPr>
          <a:xfrm>
            <a:off x="682228" y="4241125"/>
            <a:ext cx="438507" cy="438507"/>
          </a:xfrm>
          <a:prstGeom prst="roundRect">
            <a:avLst>
              <a:gd fmla="val 6668"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5"/>
          <p:cNvSpPr/>
          <p:nvPr/>
        </p:nvSpPr>
        <p:spPr>
          <a:xfrm>
            <a:off x="755273" y="4277618"/>
            <a:ext cx="292298" cy="36540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4D4D1"/>
              </a:buClr>
              <a:buSzPts val="2300"/>
              <a:buFont typeface="IBM Plex Sans"/>
              <a:buNone/>
            </a:pPr>
            <a:r>
              <a:rPr b="0" i="0" lang="en-US" sz="2300" u="none" cap="none" strike="noStrike">
                <a:solidFill>
                  <a:srgbClr val="D4D4D1"/>
                </a:solidFill>
                <a:latin typeface="IBM Plex Sans"/>
                <a:ea typeface="IBM Plex Sans"/>
                <a:cs typeface="IBM Plex Sans"/>
                <a:sym typeface="IBM Plex Sans"/>
              </a:rPr>
              <a:t>3</a:t>
            </a:r>
            <a:endParaRPr b="0" i="0" sz="2300" u="none" cap="none" strike="noStrike"/>
          </a:p>
        </p:txBody>
      </p:sp>
      <p:sp>
        <p:nvSpPr>
          <p:cNvPr id="330" name="Google Shape;330;p45"/>
          <p:cNvSpPr/>
          <p:nvPr/>
        </p:nvSpPr>
        <p:spPr>
          <a:xfrm>
            <a:off x="1288137" y="4308038"/>
            <a:ext cx="2593896" cy="304562"/>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D4D4D1"/>
              </a:buClr>
              <a:buSzPts val="1900"/>
              <a:buFont typeface="IBM Plex Sans"/>
              <a:buNone/>
            </a:pPr>
            <a:r>
              <a:rPr b="0" i="0" lang="en-US" sz="1900" u="none" cap="none" strike="noStrike">
                <a:solidFill>
                  <a:srgbClr val="D4D4D1"/>
                </a:solidFill>
                <a:latin typeface="IBM Plex Sans"/>
                <a:ea typeface="IBM Plex Sans"/>
                <a:cs typeface="IBM Plex Sans"/>
                <a:sym typeface="IBM Plex Sans"/>
              </a:rPr>
              <a:t>Biases demand caution</a:t>
            </a:r>
            <a:endParaRPr b="0" i="0" sz="1900" u="none" cap="none" strike="noStrike"/>
          </a:p>
        </p:txBody>
      </p:sp>
      <p:sp>
        <p:nvSpPr>
          <p:cNvPr id="331" name="Google Shape;331;p45"/>
          <p:cNvSpPr/>
          <p:nvPr/>
        </p:nvSpPr>
        <p:spPr>
          <a:xfrm>
            <a:off x="1288137" y="4713089"/>
            <a:ext cx="7173635" cy="57983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D4D4D1"/>
              </a:buClr>
              <a:buSzPts val="1500"/>
              <a:buFont typeface="Roboto"/>
              <a:buNone/>
            </a:pPr>
            <a:r>
              <a:rPr b="0" i="0" lang="en-US" sz="1500" u="none" cap="none" strike="noStrike">
                <a:solidFill>
                  <a:srgbClr val="D4D4D1"/>
                </a:solidFill>
                <a:latin typeface="Roboto"/>
                <a:ea typeface="Roboto"/>
                <a:cs typeface="Roboto"/>
                <a:sym typeface="Roboto"/>
              </a:rPr>
              <a:t>Camera conditions and cultural annotations may inflate texture's apparent role. Controlled data collection is the critical next step.</a:t>
            </a:r>
            <a:endParaRPr b="0" i="0" sz="1500" u="none" cap="none" strike="noStrike"/>
          </a:p>
        </p:txBody>
      </p:sp>
      <p:sp>
        <p:nvSpPr>
          <p:cNvPr id="332" name="Google Shape;332;p45"/>
          <p:cNvSpPr/>
          <p:nvPr/>
        </p:nvSpPr>
        <p:spPr>
          <a:xfrm>
            <a:off x="682228" y="5627846"/>
            <a:ext cx="438507" cy="438507"/>
          </a:xfrm>
          <a:prstGeom prst="roundRect">
            <a:avLst>
              <a:gd fmla="val 6668"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5"/>
          <p:cNvSpPr/>
          <p:nvPr/>
        </p:nvSpPr>
        <p:spPr>
          <a:xfrm>
            <a:off x="755273" y="5664339"/>
            <a:ext cx="292298" cy="36540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4D4D1"/>
              </a:buClr>
              <a:buSzPts val="2300"/>
              <a:buFont typeface="IBM Plex Sans"/>
              <a:buNone/>
            </a:pPr>
            <a:r>
              <a:rPr b="0" i="0" lang="en-US" sz="2300" u="none" cap="none" strike="noStrike">
                <a:solidFill>
                  <a:srgbClr val="D4D4D1"/>
                </a:solidFill>
                <a:latin typeface="IBM Plex Sans"/>
                <a:ea typeface="IBM Plex Sans"/>
                <a:cs typeface="IBM Plex Sans"/>
                <a:sym typeface="IBM Plex Sans"/>
              </a:rPr>
              <a:t>4</a:t>
            </a:r>
            <a:endParaRPr b="0" i="0" sz="2300" u="none" cap="none" strike="noStrike"/>
          </a:p>
        </p:txBody>
      </p:sp>
      <p:sp>
        <p:nvSpPr>
          <p:cNvPr id="334" name="Google Shape;334;p45"/>
          <p:cNvSpPr/>
          <p:nvPr/>
        </p:nvSpPr>
        <p:spPr>
          <a:xfrm>
            <a:off x="1288137" y="5694759"/>
            <a:ext cx="2436614" cy="304562"/>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D4D4D1"/>
              </a:buClr>
              <a:buSzPts val="1900"/>
              <a:buFont typeface="IBM Plex Sans"/>
              <a:buNone/>
            </a:pPr>
            <a:r>
              <a:rPr b="0" i="0" lang="en-US" sz="1900" u="none" cap="none" strike="noStrike">
                <a:solidFill>
                  <a:srgbClr val="D4D4D1"/>
                </a:solidFill>
                <a:latin typeface="IBM Plex Sans"/>
                <a:ea typeface="IBM Plex Sans"/>
                <a:cs typeface="IBM Plex Sans"/>
                <a:sym typeface="IBM Plex Sans"/>
              </a:rPr>
              <a:t>Future directions</a:t>
            </a:r>
            <a:endParaRPr b="0" i="0" sz="1900" u="none" cap="none" strike="noStrike"/>
          </a:p>
        </p:txBody>
      </p:sp>
      <p:sp>
        <p:nvSpPr>
          <p:cNvPr id="335" name="Google Shape;335;p45"/>
          <p:cNvSpPr/>
          <p:nvPr/>
        </p:nvSpPr>
        <p:spPr>
          <a:xfrm>
            <a:off x="1288137" y="6099810"/>
            <a:ext cx="7173635" cy="57983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D4D4D1"/>
              </a:buClr>
              <a:buSzPts val="1500"/>
              <a:buFont typeface="Roboto"/>
              <a:buNone/>
            </a:pPr>
            <a:r>
              <a:rPr b="0" i="0" lang="en-US" sz="1500" u="none" cap="none" strike="noStrike">
                <a:solidFill>
                  <a:srgbClr val="D4D4D1"/>
                </a:solidFill>
                <a:latin typeface="Roboto"/>
                <a:ea typeface="Roboto"/>
                <a:cs typeface="Roboto"/>
                <a:sym typeface="Roboto"/>
              </a:rPr>
              <a:t>Expression normalization, demographically balanced datasets, and cross-cultural replication studies.</a:t>
            </a:r>
            <a:endParaRPr b="0" i="0" sz="1500" u="none" cap="none" strike="noStrike"/>
          </a:p>
        </p:txBody>
      </p:sp>
      <p:sp>
        <p:nvSpPr>
          <p:cNvPr id="336" name="Google Shape;336;p45"/>
          <p:cNvSpPr/>
          <p:nvPr/>
        </p:nvSpPr>
        <p:spPr>
          <a:xfrm>
            <a:off x="682228" y="6868001"/>
            <a:ext cx="7779544" cy="754142"/>
          </a:xfrm>
          <a:prstGeom prst="roundRect">
            <a:avLst>
              <a:gd fmla="val 3877" name="adj"/>
            </a:avLst>
          </a:prstGeom>
          <a:solidFill>
            <a:srgbClr val="0223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7" name="Google Shape;337;p45"/>
          <p:cNvPicPr preferRelativeResize="0"/>
          <p:nvPr/>
        </p:nvPicPr>
        <p:blipFill rotWithShape="1">
          <a:blip r:embed="rId4">
            <a:alphaModFix/>
          </a:blip>
          <a:srcRect b="0" l="0" r="0" t="0"/>
          <a:stretch/>
        </p:blipFill>
        <p:spPr>
          <a:xfrm>
            <a:off x="877133" y="7154347"/>
            <a:ext cx="243602" cy="194905"/>
          </a:xfrm>
          <a:prstGeom prst="rect">
            <a:avLst/>
          </a:prstGeom>
          <a:noFill/>
          <a:ln>
            <a:noFill/>
          </a:ln>
        </p:spPr>
      </p:pic>
      <p:sp>
        <p:nvSpPr>
          <p:cNvPr id="338" name="Google Shape;338;p45"/>
          <p:cNvSpPr/>
          <p:nvPr/>
        </p:nvSpPr>
        <p:spPr>
          <a:xfrm>
            <a:off x="1315641" y="7084100"/>
            <a:ext cx="6951226" cy="28991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Code &amp; Models:</a:t>
            </a:r>
            <a:r>
              <a:rPr b="0" i="0" lang="en-US" sz="1500" u="none" cap="none" strike="noStrike">
                <a:solidFill>
                  <a:srgbClr val="FFFFFF"/>
                </a:solidFill>
                <a:latin typeface="Roboto"/>
                <a:ea typeface="Roboto"/>
                <a:cs typeface="Roboto"/>
                <a:sym typeface="Roboto"/>
              </a:rPr>
              <a:t> </a:t>
            </a:r>
            <a:r>
              <a:rPr b="0" i="0" lang="en-US" sz="1500" u="sng" cap="none" strike="noStrike">
                <a:solidFill>
                  <a:schemeClr val="hlink"/>
                </a:solidFill>
                <a:latin typeface="Roboto"/>
                <a:ea typeface="Roboto"/>
                <a:cs typeface="Roboto"/>
                <a:sym typeface="Roboto"/>
                <a:hlinkClick r:id="rId5"/>
              </a:rPr>
              <a:t>GitHub link</a:t>
            </a:r>
            <a:r>
              <a:rPr b="0" i="0" lang="en-US" sz="1500" u="none" cap="none" strike="noStrike">
                <a:solidFill>
                  <a:srgbClr val="FFFFFF"/>
                </a:solidFill>
                <a:latin typeface="Roboto"/>
                <a:ea typeface="Roboto"/>
                <a:cs typeface="Roboto"/>
                <a:sym typeface="Roboto"/>
              </a:rPr>
              <a:t>  |  </a:t>
            </a:r>
            <a:r>
              <a:rPr b="1" i="0" lang="en-US" sz="1500" u="none" cap="none" strike="noStrike">
                <a:solidFill>
                  <a:srgbClr val="FFFFFF"/>
                </a:solidFill>
                <a:latin typeface="Roboto"/>
                <a:ea typeface="Roboto"/>
                <a:cs typeface="Roboto"/>
                <a:sym typeface="Roboto"/>
              </a:rPr>
              <a:t>Key Reference:</a:t>
            </a:r>
            <a:r>
              <a:rPr b="0" i="0" lang="en-US" sz="1500" u="none" cap="none" strike="noStrike">
                <a:solidFill>
                  <a:srgbClr val="FFFFFF"/>
                </a:solidFill>
                <a:latin typeface="Roboto"/>
                <a:ea typeface="Roboto"/>
                <a:cs typeface="Roboto"/>
                <a:sym typeface="Roboto"/>
              </a:rPr>
              <a:t> SCUT-FBP5500, </a:t>
            </a:r>
            <a:r>
              <a:rPr b="0" i="0" lang="en-US" sz="1500" u="sng" cap="none" strike="noStrike">
                <a:solidFill>
                  <a:schemeClr val="hlink"/>
                </a:solidFill>
                <a:latin typeface="Roboto"/>
                <a:ea typeface="Roboto"/>
                <a:cs typeface="Roboto"/>
                <a:sym typeface="Roboto"/>
                <a:hlinkClick r:id="rId6"/>
              </a:rPr>
              <a:t>Liang et al. 2018</a:t>
            </a:r>
            <a:endParaRPr b="0" i="0" sz="15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6"/>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6"/>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6" name="Google Shape;346;p46"/>
          <p:cNvPicPr preferRelativeResize="0"/>
          <p:nvPr/>
        </p:nvPicPr>
        <p:blipFill rotWithShape="1">
          <a:blip r:embed="rId3">
            <a:alphaModFix/>
          </a:blip>
          <a:srcRect b="0" l="30" r="30" t="0"/>
          <a:stretch/>
        </p:blipFill>
        <p:spPr>
          <a:xfrm>
            <a:off x="6477000" y="2073808"/>
            <a:ext cx="7629900" cy="5170500"/>
          </a:xfrm>
          <a:prstGeom prst="rect">
            <a:avLst/>
          </a:prstGeom>
          <a:noFill/>
          <a:ln>
            <a:noFill/>
          </a:ln>
        </p:spPr>
      </p:pic>
      <p:sp>
        <p:nvSpPr>
          <p:cNvPr id="347" name="Google Shape;347;p46"/>
          <p:cNvSpPr/>
          <p:nvPr/>
        </p:nvSpPr>
        <p:spPr>
          <a:xfrm>
            <a:off x="793790" y="668893"/>
            <a:ext cx="76299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lang="en-US" sz="4450">
                <a:solidFill>
                  <a:srgbClr val="F3F3F2"/>
                </a:solidFill>
                <a:latin typeface="IBM Plex Sans"/>
                <a:ea typeface="IBM Plex Sans"/>
                <a:cs typeface="IBM Plex Sans"/>
                <a:sym typeface="IBM Plex Sans"/>
              </a:rPr>
              <a:t>Demographic Bias</a:t>
            </a:r>
            <a:endParaRPr sz="4450">
              <a:solidFill>
                <a:srgbClr val="F3F3F2"/>
              </a:solidFill>
              <a:latin typeface="IBM Plex Sans"/>
              <a:ea typeface="IBM Plex Sans"/>
              <a:cs typeface="IBM Plex Sans"/>
              <a:sym typeface="IBM Plex Sans"/>
            </a:endParaRPr>
          </a:p>
          <a:p>
            <a:pPr indent="0" lvl="0" marL="0" marR="0" rtl="0" algn="l">
              <a:lnSpc>
                <a:spcPct val="124719"/>
              </a:lnSpc>
              <a:spcBef>
                <a:spcPts val="0"/>
              </a:spcBef>
              <a:spcAft>
                <a:spcPts val="0"/>
              </a:spcAft>
              <a:buClr>
                <a:srgbClr val="F3F3F2"/>
              </a:buClr>
              <a:buSzPts val="4450"/>
              <a:buFont typeface="IBM Plex Sans"/>
              <a:buNone/>
            </a:pPr>
            <a:r>
              <a:rPr lang="en-US" sz="4450">
                <a:solidFill>
                  <a:srgbClr val="F3F3F2"/>
                </a:solidFill>
                <a:latin typeface="IBM Plex Sans"/>
                <a:ea typeface="IBM Plex Sans"/>
                <a:cs typeface="IBM Plex Sans"/>
                <a:sym typeface="IBM Plex Sans"/>
              </a:rPr>
              <a:t>Analysis</a:t>
            </a:r>
            <a:endParaRPr sz="4450">
              <a:solidFill>
                <a:srgbClr val="F3F3F2"/>
              </a:solidFill>
              <a:latin typeface="IBM Plex Sans"/>
              <a:ea typeface="IBM Plex Sans"/>
              <a:cs typeface="IBM Plex Sans"/>
              <a:sym typeface="IBM Plex Sans"/>
            </a:endParaRPr>
          </a:p>
        </p:txBody>
      </p:sp>
      <p:grpSp>
        <p:nvGrpSpPr>
          <p:cNvPr id="348" name="Google Shape;348;p46"/>
          <p:cNvGrpSpPr/>
          <p:nvPr/>
        </p:nvGrpSpPr>
        <p:grpSpPr>
          <a:xfrm>
            <a:off x="762951" y="2502527"/>
            <a:ext cx="5364480" cy="1471727"/>
            <a:chOff x="762953" y="1714500"/>
            <a:chExt cx="5364480" cy="1714500"/>
          </a:xfrm>
        </p:grpSpPr>
        <p:sp>
          <p:nvSpPr>
            <p:cNvPr id="349" name="Google Shape;349;p46"/>
            <p:cNvSpPr/>
            <p:nvPr/>
          </p:nvSpPr>
          <p:spPr>
            <a:xfrm>
              <a:off x="793432" y="1714500"/>
              <a:ext cx="5334000" cy="1714500"/>
            </a:xfrm>
            <a:prstGeom prst="roundRect">
              <a:avLst>
                <a:gd fmla="val 8333" name="adj"/>
              </a:avLst>
            </a:prstGeom>
            <a:solidFill>
              <a:srgbClr val="292C32"/>
            </a:solidFill>
            <a:ln cap="flat" cmpd="sng" w="19050">
              <a:solidFill>
                <a:srgbClr val="6164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46"/>
            <p:cNvSpPr/>
            <p:nvPr/>
          </p:nvSpPr>
          <p:spPr>
            <a:xfrm>
              <a:off x="762953" y="1714500"/>
              <a:ext cx="114300" cy="1714500"/>
            </a:xfrm>
            <a:prstGeom prst="roundRect">
              <a:avLst>
                <a:gd fmla="val 33333" name="adj"/>
              </a:avLst>
            </a:prstGeom>
            <a:solidFill>
              <a:srgbClr val="FFBC8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46"/>
            <p:cNvSpPr txBox="1"/>
            <p:nvPr/>
          </p:nvSpPr>
          <p:spPr>
            <a:xfrm>
              <a:off x="1095375" y="1714500"/>
              <a:ext cx="48579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F3F3F2"/>
                  </a:solidFill>
                  <a:latin typeface="IBM Plex Sans"/>
                  <a:ea typeface="IBM Plex Sans"/>
                  <a:cs typeface="IBM Plex Sans"/>
                  <a:sym typeface="IBM Plex Sans"/>
                </a:rPr>
                <a:t>Ethnic Imbalance</a:t>
              </a:r>
              <a:endParaRPr b="1" sz="2000">
                <a:solidFill>
                  <a:srgbClr val="F3F3F2"/>
                </a:solidFill>
                <a:latin typeface="IBM Plex Sans"/>
                <a:ea typeface="IBM Plex Sans"/>
                <a:cs typeface="IBM Plex Sans"/>
                <a:sym typeface="IBM Plex Sans"/>
              </a:endParaRPr>
            </a:p>
            <a:p>
              <a:pPr indent="0" lvl="0" marL="0" rtl="0" algn="l">
                <a:spcBef>
                  <a:spcPts val="750"/>
                </a:spcBef>
                <a:spcAft>
                  <a:spcPts val="0"/>
                </a:spcAft>
                <a:buNone/>
              </a:pPr>
              <a:r>
                <a:rPr lang="en-US" sz="1400">
                  <a:solidFill>
                    <a:srgbClr val="D4D4D1"/>
                  </a:solidFill>
                  <a:latin typeface="Roboto"/>
                  <a:ea typeface="Roboto"/>
                  <a:cs typeface="Roboto"/>
                  <a:sym typeface="Roboto"/>
                </a:rPr>
                <a:t>The dataset is heavily skewed toward Asian samples (2.7:1 ratio), potentially leading to sampling bias.</a:t>
              </a:r>
              <a:endParaRPr sz="1400">
                <a:solidFill>
                  <a:srgbClr val="D4D4D1"/>
                </a:solidFill>
                <a:latin typeface="Roboto"/>
                <a:ea typeface="Roboto"/>
                <a:cs typeface="Roboto"/>
                <a:sym typeface="Roboto"/>
              </a:endParaRPr>
            </a:p>
          </p:txBody>
        </p:sp>
      </p:grpSp>
      <p:grpSp>
        <p:nvGrpSpPr>
          <p:cNvPr id="352" name="Google Shape;352;p46"/>
          <p:cNvGrpSpPr/>
          <p:nvPr/>
        </p:nvGrpSpPr>
        <p:grpSpPr>
          <a:xfrm>
            <a:off x="762951" y="4108825"/>
            <a:ext cx="5364480" cy="1714500"/>
            <a:chOff x="762953" y="3619500"/>
            <a:chExt cx="5364480" cy="1905000"/>
          </a:xfrm>
        </p:grpSpPr>
        <p:sp>
          <p:nvSpPr>
            <p:cNvPr id="353" name="Google Shape;353;p46"/>
            <p:cNvSpPr/>
            <p:nvPr/>
          </p:nvSpPr>
          <p:spPr>
            <a:xfrm>
              <a:off x="793432" y="3619500"/>
              <a:ext cx="5334000" cy="1905000"/>
            </a:xfrm>
            <a:prstGeom prst="roundRect">
              <a:avLst>
                <a:gd fmla="val 7500" name="adj"/>
              </a:avLst>
            </a:prstGeom>
            <a:solidFill>
              <a:srgbClr val="292C32"/>
            </a:solidFill>
            <a:ln cap="flat" cmpd="sng" w="19050">
              <a:solidFill>
                <a:srgbClr val="6164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46"/>
            <p:cNvSpPr/>
            <p:nvPr/>
          </p:nvSpPr>
          <p:spPr>
            <a:xfrm>
              <a:off x="762953" y="3619500"/>
              <a:ext cx="114300" cy="1905000"/>
            </a:xfrm>
            <a:prstGeom prst="roundRect">
              <a:avLst>
                <a:gd fmla="val 33333" name="adj"/>
              </a:avLst>
            </a:prstGeom>
            <a:solidFill>
              <a:srgbClr val="FFBC8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46"/>
            <p:cNvSpPr txBox="1"/>
            <p:nvPr/>
          </p:nvSpPr>
          <p:spPr>
            <a:xfrm>
              <a:off x="1095375" y="3619500"/>
              <a:ext cx="4857900" cy="19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F3F3F2"/>
                  </a:solidFill>
                  <a:latin typeface="IBM Plex Sans"/>
                  <a:ea typeface="IBM Plex Sans"/>
                  <a:cs typeface="IBM Plex Sans"/>
                  <a:sym typeface="IBM Plex Sans"/>
                </a:rPr>
                <a:t>Gender Scoring Variance</a:t>
              </a:r>
              <a:endParaRPr b="1" sz="2000">
                <a:solidFill>
                  <a:srgbClr val="F3F3F2"/>
                </a:solidFill>
                <a:latin typeface="IBM Plex Sans"/>
                <a:ea typeface="IBM Plex Sans"/>
                <a:cs typeface="IBM Plex Sans"/>
                <a:sym typeface="IBM Plex Sans"/>
              </a:endParaRPr>
            </a:p>
            <a:p>
              <a:pPr indent="0" lvl="0" marL="0" rtl="0" algn="l">
                <a:spcBef>
                  <a:spcPts val="750"/>
                </a:spcBef>
                <a:spcAft>
                  <a:spcPts val="0"/>
                </a:spcAft>
                <a:buNone/>
              </a:pPr>
              <a:r>
                <a:rPr lang="en-US" sz="1400">
                  <a:solidFill>
                    <a:srgbClr val="D4D4D1"/>
                  </a:solidFill>
                  <a:latin typeface="Roboto"/>
                  <a:ea typeface="Roboto"/>
                  <a:cs typeface="Roboto"/>
                  <a:sym typeface="Roboto"/>
                </a:rPr>
                <a:t>Human raters assigned a wider range of scores to females, suggesting the "beauty standard" for females is more diverse or complex to model compared to more tightly clustered male scores.</a:t>
              </a:r>
              <a:endParaRPr sz="1400">
                <a:solidFill>
                  <a:srgbClr val="D4D4D1"/>
                </a:solidFill>
                <a:latin typeface="Roboto"/>
                <a:ea typeface="Roboto"/>
                <a:cs typeface="Roboto"/>
                <a:sym typeface="Roboto"/>
              </a:endParaRPr>
            </a:p>
          </p:txBody>
        </p:sp>
      </p:grpSp>
      <p:grpSp>
        <p:nvGrpSpPr>
          <p:cNvPr id="356" name="Google Shape;356;p46"/>
          <p:cNvGrpSpPr/>
          <p:nvPr/>
        </p:nvGrpSpPr>
        <p:grpSpPr>
          <a:xfrm>
            <a:off x="762951" y="5957889"/>
            <a:ext cx="5364480" cy="1471727"/>
            <a:chOff x="762953" y="5715000"/>
            <a:chExt cx="5364480" cy="1714500"/>
          </a:xfrm>
        </p:grpSpPr>
        <p:sp>
          <p:nvSpPr>
            <p:cNvPr id="357" name="Google Shape;357;p46"/>
            <p:cNvSpPr/>
            <p:nvPr/>
          </p:nvSpPr>
          <p:spPr>
            <a:xfrm>
              <a:off x="793432" y="5715000"/>
              <a:ext cx="5334000" cy="1714500"/>
            </a:xfrm>
            <a:prstGeom prst="roundRect">
              <a:avLst>
                <a:gd fmla="val 8333" name="adj"/>
              </a:avLst>
            </a:prstGeom>
            <a:solidFill>
              <a:srgbClr val="292C32"/>
            </a:solidFill>
            <a:ln cap="flat" cmpd="sng" w="19050">
              <a:solidFill>
                <a:srgbClr val="6164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46"/>
            <p:cNvSpPr/>
            <p:nvPr/>
          </p:nvSpPr>
          <p:spPr>
            <a:xfrm>
              <a:off x="762953" y="5715000"/>
              <a:ext cx="114300" cy="1714500"/>
            </a:xfrm>
            <a:prstGeom prst="roundRect">
              <a:avLst>
                <a:gd fmla="val 33333" name="adj"/>
              </a:avLst>
            </a:prstGeom>
            <a:solidFill>
              <a:srgbClr val="FFBC8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46"/>
            <p:cNvSpPr txBox="1"/>
            <p:nvPr/>
          </p:nvSpPr>
          <p:spPr>
            <a:xfrm>
              <a:off x="1095375" y="5715000"/>
              <a:ext cx="48579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F3F3F2"/>
                  </a:solidFill>
                  <a:latin typeface="IBM Plex Sans"/>
                  <a:ea typeface="IBM Plex Sans"/>
                  <a:cs typeface="IBM Plex Sans"/>
                  <a:sym typeface="IBM Plex Sans"/>
                </a:rPr>
                <a:t>High-Level Bias</a:t>
              </a:r>
              <a:endParaRPr b="1" sz="2000">
                <a:solidFill>
                  <a:srgbClr val="F3F3F2"/>
                </a:solidFill>
                <a:latin typeface="IBM Plex Sans"/>
                <a:ea typeface="IBM Plex Sans"/>
                <a:cs typeface="IBM Plex Sans"/>
                <a:sym typeface="IBM Plex Sans"/>
              </a:endParaRPr>
            </a:p>
            <a:p>
              <a:pPr indent="0" lvl="0" marL="0" rtl="0" algn="l">
                <a:spcBef>
                  <a:spcPts val="750"/>
                </a:spcBef>
                <a:spcAft>
                  <a:spcPts val="0"/>
                </a:spcAft>
                <a:buNone/>
              </a:pPr>
              <a:r>
                <a:rPr lang="en-US" sz="1400">
                  <a:solidFill>
                    <a:srgbClr val="D4D4D1"/>
                  </a:solidFill>
                  <a:latin typeface="Roboto"/>
                  <a:ea typeface="Roboto"/>
                  <a:cs typeface="Roboto"/>
                  <a:sym typeface="Roboto"/>
                </a:rPr>
                <a:t>Caucasian Females have the highest average rating (3.14), while Asian Males have the lowest (2.87).</a:t>
              </a:r>
              <a:endParaRPr sz="1400">
                <a:solidFill>
                  <a:srgbClr val="D4D4D1"/>
                </a:solidFill>
                <a:latin typeface="Roboto"/>
                <a:ea typeface="Roboto"/>
                <a:cs typeface="Roboto"/>
                <a:sym typeface="Robot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7"/>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7"/>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7" name="Google Shape;367;p47"/>
          <p:cNvPicPr preferRelativeResize="0"/>
          <p:nvPr/>
        </p:nvPicPr>
        <p:blipFill rotWithShape="1">
          <a:blip r:embed="rId3">
            <a:alphaModFix/>
          </a:blip>
          <a:srcRect b="710" l="0" r="0" t="-710"/>
          <a:stretch/>
        </p:blipFill>
        <p:spPr>
          <a:xfrm>
            <a:off x="7734250" y="801300"/>
            <a:ext cx="6105600" cy="6627000"/>
          </a:xfrm>
          <a:prstGeom prst="rect">
            <a:avLst/>
          </a:prstGeom>
          <a:noFill/>
          <a:ln>
            <a:noFill/>
          </a:ln>
        </p:spPr>
      </p:pic>
      <p:grpSp>
        <p:nvGrpSpPr>
          <p:cNvPr id="368" name="Google Shape;368;p47"/>
          <p:cNvGrpSpPr/>
          <p:nvPr/>
        </p:nvGrpSpPr>
        <p:grpSpPr>
          <a:xfrm>
            <a:off x="806947" y="7674725"/>
            <a:ext cx="13032903" cy="381000"/>
            <a:chOff x="806997" y="6204375"/>
            <a:chExt cx="13032903" cy="381000"/>
          </a:xfrm>
        </p:grpSpPr>
        <p:sp>
          <p:nvSpPr>
            <p:cNvPr id="369" name="Google Shape;369;p47"/>
            <p:cNvSpPr txBox="1"/>
            <p:nvPr/>
          </p:nvSpPr>
          <p:spPr>
            <a:xfrm>
              <a:off x="806997" y="6204375"/>
              <a:ext cx="61056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D4D4D1"/>
                  </a:solidFill>
                  <a:latin typeface="IBM Plex Sans"/>
                  <a:ea typeface="IBM Plex Sans"/>
                  <a:cs typeface="IBM Plex Sans"/>
                  <a:sym typeface="IBM Plex Sans"/>
                </a:rPr>
                <a:t>Figure 1: </a:t>
              </a:r>
              <a:r>
                <a:rPr lang="en-US">
                  <a:solidFill>
                    <a:srgbClr val="D4D4D1"/>
                  </a:solidFill>
                  <a:latin typeface="IBM Plex Sans"/>
                  <a:ea typeface="IBM Plex Sans"/>
                  <a:cs typeface="IBM Plex Sans"/>
                  <a:sym typeface="IBM Plex Sans"/>
                </a:rPr>
                <a:t>Spatial Attention Map</a:t>
              </a:r>
              <a:r>
                <a:rPr b="1" lang="en-US" sz="1400">
                  <a:solidFill>
                    <a:srgbClr val="D4D4D1"/>
                  </a:solidFill>
                  <a:latin typeface="IBM Plex Sans"/>
                  <a:ea typeface="IBM Plex Sans"/>
                  <a:cs typeface="IBM Plex Sans"/>
                  <a:sym typeface="IBM Plex Sans"/>
                </a:rPr>
                <a:t> </a:t>
              </a:r>
              <a:endParaRPr b="1" sz="1400">
                <a:solidFill>
                  <a:srgbClr val="D4D4D1"/>
                </a:solidFill>
                <a:latin typeface="IBM Plex Sans"/>
                <a:ea typeface="IBM Plex Sans"/>
                <a:cs typeface="IBM Plex Sans"/>
                <a:sym typeface="IBM Plex Sans"/>
              </a:endParaRPr>
            </a:p>
          </p:txBody>
        </p:sp>
        <p:sp>
          <p:nvSpPr>
            <p:cNvPr id="370" name="Google Shape;370;p47"/>
            <p:cNvSpPr txBox="1"/>
            <p:nvPr/>
          </p:nvSpPr>
          <p:spPr>
            <a:xfrm>
              <a:off x="7734300" y="6204375"/>
              <a:ext cx="61056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D4D4D1"/>
                  </a:solidFill>
                  <a:latin typeface="IBM Plex Sans"/>
                  <a:ea typeface="IBM Plex Sans"/>
                  <a:cs typeface="IBM Plex Sans"/>
                  <a:sym typeface="IBM Plex Sans"/>
                </a:rPr>
                <a:t>Figure 2: </a:t>
              </a:r>
              <a:r>
                <a:rPr lang="en-US">
                  <a:solidFill>
                    <a:srgbClr val="D4D4D1"/>
                  </a:solidFill>
                  <a:latin typeface="IBM Plex Sans"/>
                  <a:ea typeface="IBM Plex Sans"/>
                  <a:cs typeface="IBM Plex Sans"/>
                  <a:sym typeface="IBM Plex Sans"/>
                </a:rPr>
                <a:t>Gated Model (M4) </a:t>
              </a:r>
              <a:r>
                <a:rPr lang="en-US" sz="1400">
                  <a:solidFill>
                    <a:srgbClr val="D4D4D1"/>
                  </a:solidFill>
                  <a:latin typeface="IBM Plex Sans"/>
                  <a:ea typeface="IBM Plex Sans"/>
                  <a:cs typeface="IBM Plex Sans"/>
                  <a:sym typeface="IBM Plex Sans"/>
                </a:rPr>
                <a:t>Architecture</a:t>
              </a:r>
              <a:endParaRPr sz="1400">
                <a:solidFill>
                  <a:srgbClr val="D4D4D1"/>
                </a:solidFill>
                <a:latin typeface="IBM Plex Sans"/>
                <a:ea typeface="IBM Plex Sans"/>
                <a:cs typeface="IBM Plex Sans"/>
                <a:sym typeface="IBM Plex Sans"/>
              </a:endParaRPr>
            </a:p>
          </p:txBody>
        </p:sp>
      </p:grpSp>
      <p:pic>
        <p:nvPicPr>
          <p:cNvPr id="371" name="Google Shape;371;p47"/>
          <p:cNvPicPr preferRelativeResize="0"/>
          <p:nvPr/>
        </p:nvPicPr>
        <p:blipFill rotWithShape="1">
          <a:blip r:embed="rId4">
            <a:alphaModFix/>
          </a:blip>
          <a:srcRect b="10379" l="0" r="0" t="13133"/>
          <a:stretch/>
        </p:blipFill>
        <p:spPr>
          <a:xfrm>
            <a:off x="790550" y="1443475"/>
            <a:ext cx="6105600" cy="5837100"/>
          </a:xfrm>
          <a:prstGeom prst="rect">
            <a:avLst/>
          </a:prstGeom>
          <a:noFill/>
          <a:ln>
            <a:noFill/>
          </a:ln>
        </p:spPr>
      </p:pic>
      <p:sp>
        <p:nvSpPr>
          <p:cNvPr id="372" name="Google Shape;372;p47"/>
          <p:cNvSpPr/>
          <p:nvPr/>
        </p:nvSpPr>
        <p:spPr>
          <a:xfrm>
            <a:off x="790550" y="340450"/>
            <a:ext cx="76332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lang="en-US" sz="4450">
                <a:solidFill>
                  <a:srgbClr val="F3F3F2"/>
                </a:solidFill>
                <a:latin typeface="IBM Plex Sans"/>
                <a:ea typeface="IBM Plex Sans"/>
                <a:cs typeface="IBM Plex Sans"/>
                <a:sym typeface="IBM Plex Sans"/>
              </a:rPr>
              <a:t>Architecture &amp; Key Figures</a:t>
            </a:r>
            <a:endParaRPr b="0" i="0" sz="44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